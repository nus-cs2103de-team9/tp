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2" r:id="rId5"/>
    <p:sldId id="261" r:id="rId6"/>
    <p:sldId id="263" r:id="rId7"/>
    <p:sldId id="264" r:id="rId8"/>
    <p:sldId id="265" r:id="rId9"/>
    <p:sldId id="266" r:id="rId10"/>
    <p:sldId id="268" r:id="rId11"/>
    <p:sldId id="267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51B47-CE8F-A34C-6FD9-F75635826C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A6778A-6E6A-7978-BCB1-7AAC8CA393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ADB47-85F1-8C9C-11F7-0FE141D10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9745D-B66F-4BD6-A0A6-CA13148A418B}" type="datetimeFigureOut">
              <a:rPr lang="en-SG" smtClean="0"/>
              <a:t>28/3/2026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DB50C-28E6-BDF3-2B36-DBDF8223A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03F9B-37C4-87F2-394B-A820AC65D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7CB44-C63A-41FC-9A3D-B4386C70A6C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45301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AC3EA-1DD1-40F6-FF5C-BE5CCE21E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8F546-F1C7-1C9D-A92E-FAF067B1C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C9753-90D7-81C6-163A-DE2FCBA84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9745D-B66F-4BD6-A0A6-CA13148A418B}" type="datetimeFigureOut">
              <a:rPr lang="en-SG" smtClean="0"/>
              <a:t>28/3/2026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7B00A-65C9-650A-8EBB-5396C5965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2DCB7-1961-A325-027A-4690616E1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7CB44-C63A-41FC-9A3D-B4386C70A6C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6744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A7B25-0D18-51E3-F7D3-4DB31FCF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F1B2B-7FB7-7B37-0E09-B71A84458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AE547-BE7B-1720-31D9-19C86C8ED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9745D-B66F-4BD6-A0A6-CA13148A418B}" type="datetimeFigureOut">
              <a:rPr lang="en-SG" smtClean="0"/>
              <a:t>28/3/2026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5A1BE-5C07-5C07-F196-8355D5F4B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383C8-AA5A-9DF4-5A88-0EBFFC6CD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7CB44-C63A-41FC-9A3D-B4386C70A6C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7496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B7C03-25C9-CA46-400E-E6E8942ED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D36B6-597D-74C3-9417-2A2BDAEA4B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39491C-F2DD-9121-8FFD-E49D47D48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2CB59F-973F-D814-0510-A90E5B111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9745D-B66F-4BD6-A0A6-CA13148A418B}" type="datetimeFigureOut">
              <a:rPr lang="en-SG" smtClean="0"/>
              <a:t>28/3/2026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0B818-E63A-8FFF-A13A-6FF07A2D7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F183D5-7E93-866D-9C36-9BDA9393E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7CB44-C63A-41FC-9A3D-B4386C70A6C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4093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DA2D6-3D93-4DC8-4E35-4B3021BC6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EC054-899A-3FED-1B6E-6F3656104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3ABE8-1B51-7A22-BA99-348F22F92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38150A-D224-8CE5-677C-8A37453E4C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1B88FE-0961-24BB-31EF-BA6EE6F0F7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0F62AF-4F49-84F0-5DE7-218027762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9745D-B66F-4BD6-A0A6-CA13148A418B}" type="datetimeFigureOut">
              <a:rPr lang="en-SG" smtClean="0"/>
              <a:t>28/3/2026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66E698-822A-838E-1BB3-3B54BA835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1312B6-15A1-E30F-1ED7-5F270DE98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7CB44-C63A-41FC-9A3D-B4386C70A6C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1412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A7B4B-1D2C-AC2A-9828-FEA14007D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0A3700-2830-F194-83BF-99050D3B5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9745D-B66F-4BD6-A0A6-CA13148A418B}" type="datetimeFigureOut">
              <a:rPr lang="en-SG" smtClean="0"/>
              <a:t>28/3/2026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AEAF2C-3FAB-2FC3-F176-864031538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41D17E-BAFD-CD59-BBC6-DD9CAA997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7CB44-C63A-41FC-9A3D-B4386C70A6C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11581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E27282-BC13-5B7D-BEF3-616570073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9745D-B66F-4BD6-A0A6-CA13148A418B}" type="datetimeFigureOut">
              <a:rPr lang="en-SG" smtClean="0"/>
              <a:t>28/3/2026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9F7578-B33E-EB4B-1A17-8C31901E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26C8B-5D4C-EB22-A2C1-60ABFCF51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7CB44-C63A-41FC-9A3D-B4386C70A6C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61807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420A5-81AF-53BE-97D6-B4376F897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63B15-F729-4BA9-9D39-F54806915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F3D894-F420-4E00-427F-E4FD16BA8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10EA7D-C24F-3B06-E8B3-EFF3CE0B3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9745D-B66F-4BD6-A0A6-CA13148A418B}" type="datetimeFigureOut">
              <a:rPr lang="en-SG" smtClean="0"/>
              <a:t>28/3/2026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E4751-DE97-FD8D-1524-553D36483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62FD2-0309-4262-D85D-1E713ABD5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7CB44-C63A-41FC-9A3D-B4386C70A6C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40341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CAE9-F8A4-1A2C-C2C7-DF6B410D7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7930A-C0FF-D0DA-1D00-74356C1859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E9D5DD-3526-C115-2D2C-FB7053AEA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E2337-7B3E-B5FC-DF5D-41968379A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9745D-B66F-4BD6-A0A6-CA13148A418B}" type="datetimeFigureOut">
              <a:rPr lang="en-SG" smtClean="0"/>
              <a:t>28/3/2026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08F01-1472-972E-579C-597AF4574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C0F8F5-195D-2874-27B3-F2158CAF7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7CB44-C63A-41FC-9A3D-B4386C70A6C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08420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5AE19-F321-7C85-7222-1BB80FB3B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41C9CE-702B-FDA5-67BC-751FDC62F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EB810-3AA6-B9B6-101C-42D54CDB0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9745D-B66F-4BD6-A0A6-CA13148A418B}" type="datetimeFigureOut">
              <a:rPr lang="en-SG" smtClean="0"/>
              <a:t>28/3/2026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3283-375A-97C9-C44E-5FBC00AE3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C94FC-19D4-CBA0-A345-B5E620753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7CB44-C63A-41FC-9A3D-B4386C70A6C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72970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76D958-BA4F-2E37-CC26-8F5BA6534B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B50F08-F37F-64D0-59E5-E6B6F0BD2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A0EEC-0D3C-ED52-8C56-40DF2FE6A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9745D-B66F-4BD6-A0A6-CA13148A418B}" type="datetimeFigureOut">
              <a:rPr lang="en-SG" smtClean="0"/>
              <a:t>28/3/2026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BCDA7-96D6-7402-C756-9E7A89DEF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99CEB-2B13-0E8D-B93D-40E7B06C1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7CB44-C63A-41FC-9A3D-B4386C70A6C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50224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2D7570-9FAE-B16A-2B39-ED48D4CAA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FB03E-B16A-E934-459B-1817B8666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5F2B9-4A3A-3A31-7E03-5A963583B0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09745D-B66F-4BD6-A0A6-CA13148A418B}" type="datetimeFigureOut">
              <a:rPr lang="en-SG" smtClean="0"/>
              <a:t>28/3/2026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F1A07-24FC-77E6-EDF1-62D607799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FAE15-C3F6-A745-0709-5C45DD881C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57CB44-C63A-41FC-9A3D-B4386C70A6C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07951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vgsilh.com/image/40319.html" TargetMode="External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044B2-725E-FD32-2C41-7256DF3B6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2F323-B575-946B-6313-E66D48CAC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99" y="86103"/>
            <a:ext cx="11811000" cy="878416"/>
          </a:xfrm>
        </p:spPr>
        <p:txBody>
          <a:bodyPr>
            <a:noAutofit/>
          </a:bodyPr>
          <a:lstStyle/>
          <a:p>
            <a:r>
              <a:rPr lang="en-US" sz="2000" dirty="0"/>
              <a:t>Scenario: After opening the app, a log in page appears and there is a list for selecting user</a:t>
            </a:r>
            <a:br>
              <a:rPr lang="en-US" sz="2000" dirty="0"/>
            </a:br>
            <a:r>
              <a:rPr lang="en-US" sz="2000" dirty="0"/>
              <a:t>	  choices for users are: 1. existing elderly accounts, 2. caretaker (admin)</a:t>
            </a:r>
            <a:endParaRPr lang="en-SG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3BAD4F-80E6-4457-7251-B16BD510B9BC}"/>
              </a:ext>
            </a:extLst>
          </p:cNvPr>
          <p:cNvSpPr txBox="1"/>
          <p:nvPr/>
        </p:nvSpPr>
        <p:spPr>
          <a:xfrm>
            <a:off x="3729935" y="1607609"/>
            <a:ext cx="47321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Healthcare Everyday</a:t>
            </a:r>
            <a:endParaRPr lang="en-SG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79F441-D097-DEDC-B5CB-20CEAC7E8FF7}"/>
              </a:ext>
            </a:extLst>
          </p:cNvPr>
          <p:cNvSpPr txBox="1"/>
          <p:nvPr/>
        </p:nvSpPr>
        <p:spPr>
          <a:xfrm>
            <a:off x="5332297" y="3059668"/>
            <a:ext cx="1527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Who are you?</a:t>
            </a:r>
            <a:endParaRPr lang="en-SG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AADA4B-F62C-DBB5-D41B-A29533AD87BB}"/>
              </a:ext>
            </a:extLst>
          </p:cNvPr>
          <p:cNvSpPr/>
          <p:nvPr/>
        </p:nvSpPr>
        <p:spPr>
          <a:xfrm>
            <a:off x="0" y="1014942"/>
            <a:ext cx="12192000" cy="58430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71DB9FD-1E1C-7B63-BCF6-6C93CC20D43D}"/>
              </a:ext>
            </a:extLst>
          </p:cNvPr>
          <p:cNvGrpSpPr/>
          <p:nvPr/>
        </p:nvGrpSpPr>
        <p:grpSpPr>
          <a:xfrm>
            <a:off x="5196000" y="3479423"/>
            <a:ext cx="1800000" cy="1410942"/>
            <a:chOff x="5832104" y="3567139"/>
            <a:chExt cx="1800000" cy="141094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7B582E7-7AB4-8452-29FF-BB9B7E0C25EE}"/>
                </a:ext>
              </a:extLst>
            </p:cNvPr>
            <p:cNvSpPr txBox="1"/>
            <p:nvPr/>
          </p:nvSpPr>
          <p:spPr>
            <a:xfrm>
              <a:off x="5832104" y="3567139"/>
              <a:ext cx="1800000" cy="3960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Ah Gong</a:t>
              </a:r>
              <a:endParaRPr lang="en-SG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4EF2A99-01A8-57B2-FD75-5635B9AF9406}"/>
                </a:ext>
              </a:extLst>
            </p:cNvPr>
            <p:cNvSpPr txBox="1"/>
            <p:nvPr/>
          </p:nvSpPr>
          <p:spPr>
            <a:xfrm>
              <a:off x="5832104" y="4074610"/>
              <a:ext cx="1800000" cy="3960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Ah Ma</a:t>
              </a:r>
              <a:endParaRPr lang="en-SG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A232549-61C9-6D4C-FC43-26EF9B76B63A}"/>
                </a:ext>
              </a:extLst>
            </p:cNvPr>
            <p:cNvSpPr txBox="1"/>
            <p:nvPr/>
          </p:nvSpPr>
          <p:spPr>
            <a:xfrm>
              <a:off x="5832104" y="4582081"/>
              <a:ext cx="1800000" cy="3960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Caregiver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3909649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F6719-A3EC-706F-AFD1-BFE725243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D3B6-53EE-D7D3-1938-60358D826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99" y="86103"/>
            <a:ext cx="11811000" cy="878416"/>
          </a:xfrm>
        </p:spPr>
        <p:txBody>
          <a:bodyPr>
            <a:noAutofit/>
          </a:bodyPr>
          <a:lstStyle/>
          <a:p>
            <a:r>
              <a:rPr lang="en-US" sz="2000" dirty="0"/>
              <a:t>Scenario 1: chosen an existing elderly account: </a:t>
            </a:r>
            <a:br>
              <a:rPr lang="en-US" sz="2000" dirty="0"/>
            </a:br>
            <a:r>
              <a:rPr lang="en-US" sz="2000" dirty="0"/>
              <a:t>response:    log in straight away</a:t>
            </a:r>
            <a:endParaRPr lang="en-SG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E0056B-3B18-C2EA-14BE-CA98ECA0B818}"/>
              </a:ext>
            </a:extLst>
          </p:cNvPr>
          <p:cNvSpPr txBox="1"/>
          <p:nvPr/>
        </p:nvSpPr>
        <p:spPr>
          <a:xfrm>
            <a:off x="190499" y="1175809"/>
            <a:ext cx="31022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Today’s tasks</a:t>
            </a:r>
            <a:endParaRPr lang="en-SG" sz="4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5B210F-1AEC-2062-4109-C9BE34CEEF38}"/>
              </a:ext>
            </a:extLst>
          </p:cNvPr>
          <p:cNvSpPr/>
          <p:nvPr/>
        </p:nvSpPr>
        <p:spPr>
          <a:xfrm>
            <a:off x="0" y="1014942"/>
            <a:ext cx="12192000" cy="58430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F0E977D-8EF6-44F4-776F-8E6395E2F06E}"/>
              </a:ext>
            </a:extLst>
          </p:cNvPr>
          <p:cNvGrpSpPr/>
          <p:nvPr/>
        </p:nvGrpSpPr>
        <p:grpSpPr>
          <a:xfrm>
            <a:off x="414866" y="2040700"/>
            <a:ext cx="2122502" cy="1807309"/>
            <a:chOff x="414866" y="2060951"/>
            <a:chExt cx="2122502" cy="180730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824DE55-6514-11CB-0DA2-559FA1676A58}"/>
                </a:ext>
              </a:extLst>
            </p:cNvPr>
            <p:cNvSpPr txBox="1"/>
            <p:nvPr/>
          </p:nvSpPr>
          <p:spPr>
            <a:xfrm>
              <a:off x="414866" y="2060951"/>
              <a:ext cx="18406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Daily</a:t>
              </a:r>
              <a:endParaRPr lang="en-SG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ABA35EE-660E-DF1C-ADD0-E5C4550BD5F8}"/>
                </a:ext>
              </a:extLst>
            </p:cNvPr>
            <p:cNvGrpSpPr/>
            <p:nvPr/>
          </p:nvGrpSpPr>
          <p:grpSpPr>
            <a:xfrm>
              <a:off x="414867" y="2463822"/>
              <a:ext cx="2122501" cy="360000"/>
              <a:chOff x="414867" y="2571447"/>
              <a:chExt cx="2122501" cy="360000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4BEE9B3-AD57-C432-D152-353F01F56DFC}"/>
                  </a:ext>
                </a:extLst>
              </p:cNvPr>
              <p:cNvSpPr/>
              <p:nvPr/>
            </p:nvSpPr>
            <p:spPr>
              <a:xfrm>
                <a:off x="414867" y="2571447"/>
                <a:ext cx="360000" cy="360000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0E14B86-A898-E0EC-312B-333A2370B5F4}"/>
                  </a:ext>
                </a:extLst>
              </p:cNvPr>
              <p:cNvSpPr txBox="1"/>
              <p:nvPr/>
            </p:nvSpPr>
            <p:spPr>
              <a:xfrm>
                <a:off x="1097368" y="2571447"/>
                <a:ext cx="1440000" cy="36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 dirty="0"/>
                  <a:t>Daily task 1</a:t>
                </a:r>
                <a:endParaRPr lang="en-SG" u="sng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551DB66-A171-04DC-D4B8-9F5AF327EB70}"/>
                </a:ext>
              </a:extLst>
            </p:cNvPr>
            <p:cNvGrpSpPr/>
            <p:nvPr/>
          </p:nvGrpSpPr>
          <p:grpSpPr>
            <a:xfrm>
              <a:off x="414867" y="2990707"/>
              <a:ext cx="2122501" cy="360000"/>
              <a:chOff x="414867" y="2571447"/>
              <a:chExt cx="2122501" cy="36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20884CE-F3BC-9F6B-BAF2-A8B099D59A77}"/>
                  </a:ext>
                </a:extLst>
              </p:cNvPr>
              <p:cNvSpPr/>
              <p:nvPr/>
            </p:nvSpPr>
            <p:spPr>
              <a:xfrm>
                <a:off x="414867" y="2571447"/>
                <a:ext cx="360000" cy="360000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1940A8-E3B4-9C24-5670-D4BA886A0F2F}"/>
                  </a:ext>
                </a:extLst>
              </p:cNvPr>
              <p:cNvSpPr txBox="1"/>
              <p:nvPr/>
            </p:nvSpPr>
            <p:spPr>
              <a:xfrm>
                <a:off x="1097368" y="2571447"/>
                <a:ext cx="1440000" cy="36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 dirty="0"/>
                  <a:t>Daily task 2</a:t>
                </a:r>
                <a:endParaRPr lang="en-SG" u="sng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636BACB-39C2-B686-AAB9-BB8830B38B70}"/>
                </a:ext>
              </a:extLst>
            </p:cNvPr>
            <p:cNvGrpSpPr/>
            <p:nvPr/>
          </p:nvGrpSpPr>
          <p:grpSpPr>
            <a:xfrm>
              <a:off x="414867" y="3508260"/>
              <a:ext cx="2122501" cy="360000"/>
              <a:chOff x="414867" y="2571447"/>
              <a:chExt cx="2122501" cy="36000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06E0F83-7149-0AA1-FEFF-60A20368AED0}"/>
                  </a:ext>
                </a:extLst>
              </p:cNvPr>
              <p:cNvSpPr/>
              <p:nvPr/>
            </p:nvSpPr>
            <p:spPr>
              <a:xfrm>
                <a:off x="414867" y="2571447"/>
                <a:ext cx="360000" cy="360000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B7A0E7A-37FB-8CCD-18FD-5BA413ED8B97}"/>
                  </a:ext>
                </a:extLst>
              </p:cNvPr>
              <p:cNvSpPr txBox="1"/>
              <p:nvPr/>
            </p:nvSpPr>
            <p:spPr>
              <a:xfrm>
                <a:off x="1097368" y="2571447"/>
                <a:ext cx="1440000" cy="36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 dirty="0"/>
                  <a:t>Daily task 3</a:t>
                </a:r>
                <a:endParaRPr lang="en-SG" u="sng" dirty="0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D04B524-503A-5712-0031-4152816D7D20}"/>
              </a:ext>
            </a:extLst>
          </p:cNvPr>
          <p:cNvGrpSpPr/>
          <p:nvPr/>
        </p:nvGrpSpPr>
        <p:grpSpPr>
          <a:xfrm>
            <a:off x="414866" y="4447969"/>
            <a:ext cx="2482502" cy="1716952"/>
            <a:chOff x="414866" y="4336298"/>
            <a:chExt cx="2482502" cy="171695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C84672C-61CB-6BAB-3600-DEACD1DE4C05}"/>
                </a:ext>
              </a:extLst>
            </p:cNvPr>
            <p:cNvSpPr txBox="1"/>
            <p:nvPr/>
          </p:nvSpPr>
          <p:spPr>
            <a:xfrm>
              <a:off x="414866" y="4336298"/>
              <a:ext cx="13326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Weekly</a:t>
              </a:r>
              <a:endParaRPr lang="en-SG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2D4ECB0-9434-99C5-0779-0DBE813CE914}"/>
                </a:ext>
              </a:extLst>
            </p:cNvPr>
            <p:cNvGrpSpPr/>
            <p:nvPr/>
          </p:nvGrpSpPr>
          <p:grpSpPr>
            <a:xfrm>
              <a:off x="414867" y="4730841"/>
              <a:ext cx="2482501" cy="360000"/>
              <a:chOff x="414867" y="2571447"/>
              <a:chExt cx="2482501" cy="360000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7C75A1F-7C1E-14C9-B797-88933CC3FA36}"/>
                  </a:ext>
                </a:extLst>
              </p:cNvPr>
              <p:cNvSpPr/>
              <p:nvPr/>
            </p:nvSpPr>
            <p:spPr>
              <a:xfrm>
                <a:off x="414867" y="2571447"/>
                <a:ext cx="360000" cy="360000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C59BAE0-DFEE-056F-F9CD-7D2505665D12}"/>
                  </a:ext>
                </a:extLst>
              </p:cNvPr>
              <p:cNvSpPr txBox="1"/>
              <p:nvPr/>
            </p:nvSpPr>
            <p:spPr>
              <a:xfrm>
                <a:off x="1097368" y="2571447"/>
                <a:ext cx="1800000" cy="36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 dirty="0"/>
                  <a:t>Weekly task 1</a:t>
                </a:r>
                <a:endParaRPr lang="en-SG" u="sng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50B913C-8867-6511-E508-07A6471CF919}"/>
                </a:ext>
              </a:extLst>
            </p:cNvPr>
            <p:cNvGrpSpPr/>
            <p:nvPr/>
          </p:nvGrpSpPr>
          <p:grpSpPr>
            <a:xfrm>
              <a:off x="414867" y="5202713"/>
              <a:ext cx="2482501" cy="369332"/>
              <a:chOff x="414867" y="2571447"/>
              <a:chExt cx="2482501" cy="369332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6A1B3AF-8844-1523-A25E-8EFC80F164BF}"/>
                  </a:ext>
                </a:extLst>
              </p:cNvPr>
              <p:cNvSpPr/>
              <p:nvPr/>
            </p:nvSpPr>
            <p:spPr>
              <a:xfrm>
                <a:off x="414867" y="2571447"/>
                <a:ext cx="360000" cy="360000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4CF4158-C056-7A75-B279-23F741EDDC2B}"/>
                  </a:ext>
                </a:extLst>
              </p:cNvPr>
              <p:cNvSpPr txBox="1"/>
              <p:nvPr/>
            </p:nvSpPr>
            <p:spPr>
              <a:xfrm>
                <a:off x="1097368" y="2571447"/>
                <a:ext cx="1800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 dirty="0"/>
                  <a:t>Weekly task 2</a:t>
                </a:r>
                <a:endParaRPr lang="en-SG" u="sng" dirty="0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E1D188C-38BE-0D09-4082-74690C0BABC6}"/>
                </a:ext>
              </a:extLst>
            </p:cNvPr>
            <p:cNvGrpSpPr/>
            <p:nvPr/>
          </p:nvGrpSpPr>
          <p:grpSpPr>
            <a:xfrm>
              <a:off x="414867" y="5683918"/>
              <a:ext cx="2482501" cy="369332"/>
              <a:chOff x="414867" y="2571447"/>
              <a:chExt cx="2482501" cy="369332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B0FB0371-FC1D-BFF9-33E4-F65C358A9B4F}"/>
                  </a:ext>
                </a:extLst>
              </p:cNvPr>
              <p:cNvSpPr/>
              <p:nvPr/>
            </p:nvSpPr>
            <p:spPr>
              <a:xfrm>
                <a:off x="414867" y="2571447"/>
                <a:ext cx="360000" cy="360000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6AB541F-4A59-1B91-B7E7-4744702E3B2E}"/>
                  </a:ext>
                </a:extLst>
              </p:cNvPr>
              <p:cNvSpPr txBox="1"/>
              <p:nvPr/>
            </p:nvSpPr>
            <p:spPr>
              <a:xfrm>
                <a:off x="1097368" y="2571447"/>
                <a:ext cx="1800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 dirty="0"/>
                  <a:t>Weekly task 3</a:t>
                </a:r>
                <a:endParaRPr lang="en-SG" u="sng" dirty="0"/>
              </a:p>
            </p:txBody>
          </p:sp>
        </p:grpSp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3935F5AF-29B4-D3DC-33AC-0765BA3434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463183" y="4755334"/>
              <a:ext cx="263367" cy="2880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0636869-C841-946E-7A1C-B3DDCBE5C7A6}"/>
              </a:ext>
            </a:extLst>
          </p:cNvPr>
          <p:cNvGrpSpPr/>
          <p:nvPr/>
        </p:nvGrpSpPr>
        <p:grpSpPr>
          <a:xfrm>
            <a:off x="5628639" y="6319520"/>
            <a:ext cx="934719" cy="360000"/>
            <a:chOff x="5521280" y="6258560"/>
            <a:chExt cx="934719" cy="36000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FD43346-3E8F-2E33-1511-13CB25167DA7}"/>
                </a:ext>
              </a:extLst>
            </p:cNvPr>
            <p:cNvSpPr/>
            <p:nvPr/>
          </p:nvSpPr>
          <p:spPr>
            <a:xfrm>
              <a:off x="5521280" y="6258560"/>
              <a:ext cx="360000" cy="3600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en-SG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FCE3E6A-6631-4BDA-751E-743E6129CB94}"/>
                </a:ext>
              </a:extLst>
            </p:cNvPr>
            <p:cNvSpPr/>
            <p:nvPr/>
          </p:nvSpPr>
          <p:spPr>
            <a:xfrm>
              <a:off x="6095999" y="6258560"/>
              <a:ext cx="360000" cy="36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  <a:endParaRPr lang="en-SG" dirty="0">
                <a:solidFill>
                  <a:schemeClr val="tx1"/>
                </a:solidFill>
              </a:endParaRPr>
            </a:p>
          </p:txBody>
        </p:sp>
      </p:grpSp>
      <p:sp>
        <p:nvSpPr>
          <p:cNvPr id="5" name="Action Button: Go Back or Previous 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CBC7C9C4-C183-FFFA-1E1B-98177C0E847A}"/>
              </a:ext>
            </a:extLst>
          </p:cNvPr>
          <p:cNvSpPr/>
          <p:nvPr/>
        </p:nvSpPr>
        <p:spPr>
          <a:xfrm>
            <a:off x="11461499" y="1175809"/>
            <a:ext cx="540000" cy="540000"/>
          </a:xfrm>
          <a:prstGeom prst="actionButtonBackPrevio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09449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C2DBC-AB32-122C-C30E-EBF2CFC9D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3B4E5-C88E-B092-C528-ECF07B0FC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99" y="86103"/>
            <a:ext cx="11811000" cy="878416"/>
          </a:xfrm>
        </p:spPr>
        <p:txBody>
          <a:bodyPr>
            <a:noAutofit/>
          </a:bodyPr>
          <a:lstStyle/>
          <a:p>
            <a:r>
              <a:rPr lang="en-US" sz="2000" dirty="0"/>
              <a:t>Scenario 1: chosen an existing elderly account: </a:t>
            </a:r>
            <a:br>
              <a:rPr lang="en-US" sz="2000" dirty="0"/>
            </a:br>
            <a:r>
              <a:rPr lang="en-US" sz="2000" dirty="0"/>
              <a:t>response:    log in straight away (click page 2 after completing the top part checklists)</a:t>
            </a:r>
            <a:endParaRPr lang="en-SG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4947E8-D8DE-754A-D480-93C14D5BEB67}"/>
              </a:ext>
            </a:extLst>
          </p:cNvPr>
          <p:cNvSpPr/>
          <p:nvPr/>
        </p:nvSpPr>
        <p:spPr>
          <a:xfrm>
            <a:off x="0" y="1014942"/>
            <a:ext cx="12192000" cy="58430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581F35-84F6-8D68-0504-DBC1645E14D2}"/>
              </a:ext>
            </a:extLst>
          </p:cNvPr>
          <p:cNvSpPr txBox="1"/>
          <p:nvPr/>
        </p:nvSpPr>
        <p:spPr>
          <a:xfrm>
            <a:off x="414867" y="1217868"/>
            <a:ext cx="572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are you feeling today? Anything notable happened?</a:t>
            </a:r>
            <a:endParaRPr lang="en-SG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4A979A-5F13-F35E-4AD8-7D34A907AAFB}"/>
              </a:ext>
            </a:extLst>
          </p:cNvPr>
          <p:cNvSpPr/>
          <p:nvPr/>
        </p:nvSpPr>
        <p:spPr>
          <a:xfrm>
            <a:off x="414867" y="1790127"/>
            <a:ext cx="8128000" cy="37686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C587C07-D9F6-5D1A-0B01-3B14D230DE01}"/>
              </a:ext>
            </a:extLst>
          </p:cNvPr>
          <p:cNvSpPr/>
          <p:nvPr/>
        </p:nvSpPr>
        <p:spPr>
          <a:xfrm>
            <a:off x="414867" y="5812171"/>
            <a:ext cx="11586632" cy="39624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Submit today’s record</a:t>
            </a:r>
            <a:endParaRPr lang="en-SG" dirty="0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102D19A-0644-0A8E-FF1F-457E7BBF03C2}"/>
              </a:ext>
            </a:extLst>
          </p:cNvPr>
          <p:cNvGrpSpPr/>
          <p:nvPr/>
        </p:nvGrpSpPr>
        <p:grpSpPr>
          <a:xfrm flipH="1">
            <a:off x="5628639" y="6319520"/>
            <a:ext cx="934719" cy="360000"/>
            <a:chOff x="5521280" y="6258560"/>
            <a:chExt cx="934719" cy="360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B8498E9-AF17-786A-591E-4896F384E6AF}"/>
                </a:ext>
              </a:extLst>
            </p:cNvPr>
            <p:cNvSpPr/>
            <p:nvPr/>
          </p:nvSpPr>
          <p:spPr>
            <a:xfrm>
              <a:off x="5521280" y="6258560"/>
              <a:ext cx="360000" cy="3600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en-SG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8E7C102-47B8-62CE-5A9C-55AEB35182B8}"/>
                </a:ext>
              </a:extLst>
            </p:cNvPr>
            <p:cNvSpPr/>
            <p:nvPr/>
          </p:nvSpPr>
          <p:spPr>
            <a:xfrm>
              <a:off x="6095999" y="6258560"/>
              <a:ext cx="360000" cy="36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  <a:endParaRPr lang="en-SG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Action Button: Go Back or Previous 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B35DAEB-E79E-7C4E-989E-B4E3941640DD}"/>
              </a:ext>
            </a:extLst>
          </p:cNvPr>
          <p:cNvSpPr/>
          <p:nvPr/>
        </p:nvSpPr>
        <p:spPr>
          <a:xfrm>
            <a:off x="11461499" y="1175809"/>
            <a:ext cx="540000" cy="540000"/>
          </a:xfrm>
          <a:prstGeom prst="actionButtonBackPrevio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63229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0DADF-A504-08EA-2916-EF1A3FEBC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8670A-647C-74DC-E51D-685E06E04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99" y="86103"/>
            <a:ext cx="11811000" cy="878416"/>
          </a:xfrm>
        </p:spPr>
        <p:txBody>
          <a:bodyPr>
            <a:noAutofit/>
          </a:bodyPr>
          <a:lstStyle/>
          <a:p>
            <a:r>
              <a:rPr lang="en-US" sz="2000" dirty="0"/>
              <a:t>Scenario 2: chosen caregiver account: </a:t>
            </a:r>
            <a:br>
              <a:rPr lang="en-US" sz="2000" dirty="0"/>
            </a:br>
            <a:r>
              <a:rPr lang="en-US" sz="2000" dirty="0"/>
              <a:t>response:    prompt to provide password for log in</a:t>
            </a:r>
            <a:endParaRPr lang="en-SG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3A267B-A2D0-A8EF-080A-D104BB5318FE}"/>
              </a:ext>
            </a:extLst>
          </p:cNvPr>
          <p:cNvSpPr txBox="1"/>
          <p:nvPr/>
        </p:nvSpPr>
        <p:spPr>
          <a:xfrm>
            <a:off x="3729935" y="1607609"/>
            <a:ext cx="47321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Healthcare Everyday</a:t>
            </a:r>
            <a:endParaRPr lang="en-SG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7E65F1-0859-9E96-051D-78F609E63ABD}"/>
              </a:ext>
            </a:extLst>
          </p:cNvPr>
          <p:cNvSpPr txBox="1"/>
          <p:nvPr/>
        </p:nvSpPr>
        <p:spPr>
          <a:xfrm>
            <a:off x="5332296" y="3059668"/>
            <a:ext cx="1527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Who are you?</a:t>
            </a:r>
            <a:endParaRPr lang="en-SG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ADA670-4382-AC55-0EBA-0D7078B94DFD}"/>
              </a:ext>
            </a:extLst>
          </p:cNvPr>
          <p:cNvSpPr/>
          <p:nvPr/>
        </p:nvSpPr>
        <p:spPr>
          <a:xfrm>
            <a:off x="0" y="1014942"/>
            <a:ext cx="12192000" cy="58430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261282-01B8-8378-D001-99DAFAAB2591}"/>
              </a:ext>
            </a:extLst>
          </p:cNvPr>
          <p:cNvSpPr txBox="1"/>
          <p:nvPr/>
        </p:nvSpPr>
        <p:spPr>
          <a:xfrm>
            <a:off x="5195999" y="3540471"/>
            <a:ext cx="1800000" cy="3960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Caregiver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9ED6B-A426-6872-C080-1681A6B0B65C}"/>
              </a:ext>
            </a:extLst>
          </p:cNvPr>
          <p:cNvSpPr txBox="1"/>
          <p:nvPr/>
        </p:nvSpPr>
        <p:spPr>
          <a:xfrm>
            <a:off x="4655999" y="4047942"/>
            <a:ext cx="2880000" cy="39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Password: ________________</a:t>
            </a:r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F10826-28FD-20EB-50A3-615347EBE491}"/>
              </a:ext>
            </a:extLst>
          </p:cNvPr>
          <p:cNvSpPr txBox="1"/>
          <p:nvPr/>
        </p:nvSpPr>
        <p:spPr>
          <a:xfrm>
            <a:off x="5682136" y="4494365"/>
            <a:ext cx="23551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Wrong password, please try again</a:t>
            </a:r>
          </a:p>
          <a:p>
            <a:r>
              <a:rPr lang="en-US" sz="1000" dirty="0">
                <a:solidFill>
                  <a:srgbClr val="FF0000"/>
                </a:solidFill>
              </a:rPr>
              <a:t>(shows up if wrong password provided) </a:t>
            </a:r>
            <a:endParaRPr lang="en-SG" sz="1000" dirty="0">
              <a:solidFill>
                <a:srgbClr val="FF0000"/>
              </a:solidFill>
            </a:endParaRPr>
          </a:p>
        </p:txBody>
      </p:sp>
      <p:sp>
        <p:nvSpPr>
          <p:cNvPr id="3" name="Action Button: Go Back or Previous 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5C5CFDE6-5C7E-49AD-1E00-0F7AB5CC57D6}"/>
              </a:ext>
            </a:extLst>
          </p:cNvPr>
          <p:cNvSpPr/>
          <p:nvPr/>
        </p:nvSpPr>
        <p:spPr>
          <a:xfrm>
            <a:off x="11461499" y="1175809"/>
            <a:ext cx="540000" cy="540000"/>
          </a:xfrm>
          <a:prstGeom prst="actionButtonBackPrevio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46577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75136-7396-3E3D-CB7E-DADEA4A70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999E6-3C73-E0E4-CC1A-1773F8433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99" y="86103"/>
            <a:ext cx="11811000" cy="878416"/>
          </a:xfrm>
        </p:spPr>
        <p:txBody>
          <a:bodyPr>
            <a:noAutofit/>
          </a:bodyPr>
          <a:lstStyle/>
          <a:p>
            <a:r>
              <a:rPr lang="en-US" sz="2000" dirty="0"/>
              <a:t>Scenario 2: chosen caregiver account -&gt; password success -&gt; log in</a:t>
            </a:r>
            <a:br>
              <a:rPr lang="en-US" sz="2000" dirty="0"/>
            </a:br>
            <a:r>
              <a:rPr lang="en-US" sz="2000" dirty="0"/>
              <a:t>response:    Ask what the user wants to do </a:t>
            </a:r>
            <a:endParaRPr lang="en-SG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8781F3-3D6A-51ED-27C4-5FBD924D8F34}"/>
              </a:ext>
            </a:extLst>
          </p:cNvPr>
          <p:cNvSpPr/>
          <p:nvPr/>
        </p:nvSpPr>
        <p:spPr>
          <a:xfrm>
            <a:off x="0" y="1014942"/>
            <a:ext cx="12192000" cy="58430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Action Button: Go Back or Previous 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8AAB1BF-0A38-689C-EE8D-F17FA163BD7B}"/>
              </a:ext>
            </a:extLst>
          </p:cNvPr>
          <p:cNvSpPr/>
          <p:nvPr/>
        </p:nvSpPr>
        <p:spPr>
          <a:xfrm>
            <a:off x="11461499" y="1175809"/>
            <a:ext cx="540000" cy="540000"/>
          </a:xfrm>
          <a:prstGeom prst="actionButtonBackPrevio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C1446DC-EB4D-065D-483E-B7CDAC70093A}"/>
              </a:ext>
            </a:extLst>
          </p:cNvPr>
          <p:cNvGrpSpPr/>
          <p:nvPr/>
        </p:nvGrpSpPr>
        <p:grpSpPr>
          <a:xfrm>
            <a:off x="4295998" y="2381003"/>
            <a:ext cx="3600001" cy="3110935"/>
            <a:chOff x="4295998" y="2599923"/>
            <a:chExt cx="3600001" cy="311093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9937921-1871-F09E-AFED-4B4D2A7BA139}"/>
                </a:ext>
              </a:extLst>
            </p:cNvPr>
            <p:cNvGrpSpPr/>
            <p:nvPr/>
          </p:nvGrpSpPr>
          <p:grpSpPr>
            <a:xfrm>
              <a:off x="4295998" y="2599923"/>
              <a:ext cx="3600001" cy="2530249"/>
              <a:chOff x="4295999" y="2930123"/>
              <a:chExt cx="3600001" cy="2530249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B35E7CAC-0EC9-A83A-0EBB-7726133EC751}"/>
                  </a:ext>
                </a:extLst>
              </p:cNvPr>
              <p:cNvGrpSpPr/>
              <p:nvPr/>
            </p:nvGrpSpPr>
            <p:grpSpPr>
              <a:xfrm>
                <a:off x="4296000" y="2930123"/>
                <a:ext cx="3600000" cy="2012696"/>
                <a:chOff x="4295999" y="2609788"/>
                <a:chExt cx="3600000" cy="2012696"/>
              </a:xfrm>
            </p:grpSpPr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081F124-F2A1-6283-B197-AD29F7C90A87}"/>
                    </a:ext>
                  </a:extLst>
                </p:cNvPr>
                <p:cNvSpPr txBox="1"/>
                <p:nvPr/>
              </p:nvSpPr>
              <p:spPr>
                <a:xfrm>
                  <a:off x="4732100" y="2609788"/>
                  <a:ext cx="281859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What would you like to do?</a:t>
                  </a:r>
                  <a:endParaRPr lang="en-SG" dirty="0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B27BCC7A-EE82-FFDE-9A82-B53D6FC21873}"/>
                    </a:ext>
                  </a:extLst>
                </p:cNvPr>
                <p:cNvSpPr/>
                <p:nvPr/>
              </p:nvSpPr>
              <p:spPr>
                <a:xfrm>
                  <a:off x="4295999" y="3182046"/>
                  <a:ext cx="3600000" cy="396000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Make changes to tasks of senior</a:t>
                  </a:r>
                  <a:endParaRPr lang="en-SG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CCD07F06-C408-8D8E-3C7E-886DB1652497}"/>
                    </a:ext>
                  </a:extLst>
                </p:cNvPr>
                <p:cNvSpPr/>
                <p:nvPr/>
              </p:nvSpPr>
              <p:spPr>
                <a:xfrm>
                  <a:off x="4295999" y="3708931"/>
                  <a:ext cx="3600000" cy="396000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View task completion history</a:t>
                  </a:r>
                  <a:endParaRPr lang="en-SG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77CCD8FA-9610-15D4-6CD7-5D7EF51A98C7}"/>
                    </a:ext>
                  </a:extLst>
                </p:cNvPr>
                <p:cNvSpPr/>
                <p:nvPr/>
              </p:nvSpPr>
              <p:spPr>
                <a:xfrm>
                  <a:off x="4295999" y="4226484"/>
                  <a:ext cx="3600000" cy="396000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Generate summary report</a:t>
                  </a:r>
                  <a:endParaRPr lang="en-SG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058B621-7D29-0381-5CB4-17CA56BD0C3A}"/>
                  </a:ext>
                </a:extLst>
              </p:cNvPr>
              <p:cNvSpPr/>
              <p:nvPr/>
            </p:nvSpPr>
            <p:spPr>
              <a:xfrm>
                <a:off x="4295999" y="5064372"/>
                <a:ext cx="3600000" cy="396000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Change password</a:t>
                </a:r>
                <a:endParaRPr lang="en-SG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A50B6BD-B7B2-C1EA-78EA-1484285BB49B}"/>
                </a:ext>
              </a:extLst>
            </p:cNvPr>
            <p:cNvSpPr/>
            <p:nvPr/>
          </p:nvSpPr>
          <p:spPr>
            <a:xfrm>
              <a:off x="4295998" y="5314858"/>
              <a:ext cx="3600000" cy="396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Add new user</a:t>
              </a:r>
              <a:endParaRPr lang="en-SG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3684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53E5D-12CE-120D-7111-6162D9821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F38D8-844B-55D1-FAC4-AE0409FB9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99" y="86103"/>
            <a:ext cx="11811000" cy="878416"/>
          </a:xfrm>
        </p:spPr>
        <p:txBody>
          <a:bodyPr>
            <a:noAutofit/>
          </a:bodyPr>
          <a:lstStyle/>
          <a:p>
            <a:r>
              <a:rPr lang="en-US" sz="2000" dirty="0"/>
              <a:t>Scenario 2.a: chose to edit routine for senior</a:t>
            </a:r>
            <a:br>
              <a:rPr lang="en-US" sz="2000" dirty="0"/>
            </a:br>
            <a:r>
              <a:rPr lang="en-US" sz="2000" dirty="0"/>
              <a:t>response:    Ask whose routine to modify</a:t>
            </a:r>
            <a:endParaRPr lang="en-SG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E35537-B198-D649-32FD-DC36FFCF46E3}"/>
              </a:ext>
            </a:extLst>
          </p:cNvPr>
          <p:cNvSpPr/>
          <p:nvPr/>
        </p:nvSpPr>
        <p:spPr>
          <a:xfrm>
            <a:off x="0" y="1014942"/>
            <a:ext cx="12192000" cy="58430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15BF2ED-F147-E7BF-076F-595F6D804F74}"/>
              </a:ext>
            </a:extLst>
          </p:cNvPr>
          <p:cNvGrpSpPr/>
          <p:nvPr/>
        </p:nvGrpSpPr>
        <p:grpSpPr>
          <a:xfrm>
            <a:off x="4360719" y="2930123"/>
            <a:ext cx="3600000" cy="1495143"/>
            <a:chOff x="4360718" y="2609788"/>
            <a:chExt cx="3600000" cy="14951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41A9CE-3471-6A89-45CE-F191CA2D0F0C}"/>
                </a:ext>
              </a:extLst>
            </p:cNvPr>
            <p:cNvSpPr txBox="1"/>
            <p:nvPr/>
          </p:nvSpPr>
          <p:spPr>
            <a:xfrm>
              <a:off x="4514050" y="2609788"/>
              <a:ext cx="3293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Whose tasks are we modifying?</a:t>
              </a:r>
              <a:endParaRPr lang="en-SG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7001802-6A4B-1834-E732-8D5E74DAB472}"/>
                </a:ext>
              </a:extLst>
            </p:cNvPr>
            <p:cNvSpPr/>
            <p:nvPr/>
          </p:nvSpPr>
          <p:spPr>
            <a:xfrm>
              <a:off x="4360718" y="3182046"/>
              <a:ext cx="3600000" cy="396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Ah Gong</a:t>
              </a:r>
              <a:endParaRPr lang="en-SG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4F07156-F9FB-1F5A-23B8-892C73E85A76}"/>
                </a:ext>
              </a:extLst>
            </p:cNvPr>
            <p:cNvSpPr/>
            <p:nvPr/>
          </p:nvSpPr>
          <p:spPr>
            <a:xfrm>
              <a:off x="4360718" y="3708931"/>
              <a:ext cx="3600000" cy="396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Ah Ma</a:t>
              </a:r>
              <a:endParaRPr lang="en-SG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01A4003-17E8-9169-E0D5-7FF8AC38B13D}"/>
              </a:ext>
            </a:extLst>
          </p:cNvPr>
          <p:cNvSpPr txBox="1"/>
          <p:nvPr/>
        </p:nvSpPr>
        <p:spPr>
          <a:xfrm>
            <a:off x="7960719" y="4184711"/>
            <a:ext cx="35974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(Displays however many seniors registered in the local device)</a:t>
            </a:r>
            <a:endParaRPr lang="en-SG" sz="1000" dirty="0"/>
          </a:p>
        </p:txBody>
      </p:sp>
      <p:sp>
        <p:nvSpPr>
          <p:cNvPr id="4" name="Action Button: Go Back or Previous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797A74AF-53DD-2436-5E5C-72ADB8C60E36}"/>
              </a:ext>
            </a:extLst>
          </p:cNvPr>
          <p:cNvSpPr/>
          <p:nvPr/>
        </p:nvSpPr>
        <p:spPr>
          <a:xfrm>
            <a:off x="11461499" y="1175809"/>
            <a:ext cx="540000" cy="540000"/>
          </a:xfrm>
          <a:prstGeom prst="actionButtonBackPrevio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89038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CDE6F-ADDD-4A7B-B986-950329BA6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4FB4B-B023-A0AD-916C-DF48660A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99" y="86103"/>
            <a:ext cx="11811000" cy="878416"/>
          </a:xfrm>
        </p:spPr>
        <p:txBody>
          <a:bodyPr>
            <a:noAutofit/>
          </a:bodyPr>
          <a:lstStyle/>
          <a:p>
            <a:r>
              <a:rPr lang="en-US" sz="2000" dirty="0"/>
              <a:t>Scenario 2.a: chose to edit routine for senior -&gt; chose senior (Ah gong for example)</a:t>
            </a:r>
            <a:br>
              <a:rPr lang="en-US" sz="2000" dirty="0"/>
            </a:br>
            <a:r>
              <a:rPr lang="en-US" sz="2000" dirty="0"/>
              <a:t>response:    opens the edit page</a:t>
            </a:r>
            <a:endParaRPr lang="en-SG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1E9649-AB0D-5F1F-222E-EA7685E5295B}"/>
              </a:ext>
            </a:extLst>
          </p:cNvPr>
          <p:cNvSpPr/>
          <p:nvPr/>
        </p:nvSpPr>
        <p:spPr>
          <a:xfrm>
            <a:off x="0" y="1014942"/>
            <a:ext cx="12192000" cy="58430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DDF26A-345B-C795-6D5A-069ECFD85534}"/>
              </a:ext>
            </a:extLst>
          </p:cNvPr>
          <p:cNvSpPr txBox="1"/>
          <p:nvPr/>
        </p:nvSpPr>
        <p:spPr>
          <a:xfrm>
            <a:off x="414866" y="1939100"/>
            <a:ext cx="1840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Daily</a:t>
            </a:r>
            <a:endParaRPr lang="en-SG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A300CB-8603-608F-0B95-A1BB6A794179}"/>
              </a:ext>
            </a:extLst>
          </p:cNvPr>
          <p:cNvSpPr txBox="1"/>
          <p:nvPr/>
        </p:nvSpPr>
        <p:spPr>
          <a:xfrm>
            <a:off x="414866" y="4292827"/>
            <a:ext cx="1332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Weekly</a:t>
            </a:r>
            <a:endParaRPr lang="en-SG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8F23FF5-35FD-2062-3E1D-C670E85EDCD6}"/>
              </a:ext>
            </a:extLst>
          </p:cNvPr>
          <p:cNvSpPr txBox="1"/>
          <p:nvPr/>
        </p:nvSpPr>
        <p:spPr>
          <a:xfrm>
            <a:off x="190499" y="1175809"/>
            <a:ext cx="39631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Tasks for Ah gong</a:t>
            </a:r>
            <a:endParaRPr lang="en-SG" sz="4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DFCF41-E121-9AE7-C2B1-0E066CBB2415}"/>
              </a:ext>
            </a:extLst>
          </p:cNvPr>
          <p:cNvSpPr txBox="1"/>
          <p:nvPr/>
        </p:nvSpPr>
        <p:spPr>
          <a:xfrm>
            <a:off x="414866" y="3816748"/>
            <a:ext cx="2520000" cy="39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Add more tasks</a:t>
            </a:r>
            <a:endParaRPr lang="en-SG" u="sng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6F40FB9-B545-4BF0-E16B-A082B36B8AC3}"/>
              </a:ext>
            </a:extLst>
          </p:cNvPr>
          <p:cNvGrpSpPr/>
          <p:nvPr/>
        </p:nvGrpSpPr>
        <p:grpSpPr>
          <a:xfrm>
            <a:off x="414866" y="2388511"/>
            <a:ext cx="2520000" cy="396000"/>
            <a:chOff x="414866" y="2405434"/>
            <a:chExt cx="2520000" cy="39600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4953D4A-4FEB-91E2-1125-E5640760EA85}"/>
                </a:ext>
              </a:extLst>
            </p:cNvPr>
            <p:cNvSpPr txBox="1"/>
            <p:nvPr/>
          </p:nvSpPr>
          <p:spPr>
            <a:xfrm>
              <a:off x="414866" y="2405434"/>
              <a:ext cx="2520000" cy="396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u="sng" dirty="0"/>
                <a:t>Daily task 1</a:t>
              </a:r>
              <a:endParaRPr lang="en-SG" u="sng" dirty="0"/>
            </a:p>
          </p:txBody>
        </p:sp>
        <p:sp>
          <p:nvSpPr>
            <p:cNvPr id="34" name="Multiplication Sign 33">
              <a:extLst>
                <a:ext uri="{FF2B5EF4-FFF2-40B4-BE49-F238E27FC236}">
                  <a16:creationId xmlns:a16="http://schemas.microsoft.com/office/drawing/2014/main" id="{480C29E1-6520-D0BA-98F7-83CC9936B9D7}"/>
                </a:ext>
              </a:extLst>
            </p:cNvPr>
            <p:cNvSpPr/>
            <p:nvPr/>
          </p:nvSpPr>
          <p:spPr>
            <a:xfrm>
              <a:off x="2537368" y="2421687"/>
              <a:ext cx="360000" cy="360000"/>
            </a:xfrm>
            <a:prstGeom prst="mathMultiply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182AE32-6B28-C378-B691-FC36F6DCD530}"/>
              </a:ext>
            </a:extLst>
          </p:cNvPr>
          <p:cNvGrpSpPr/>
          <p:nvPr/>
        </p:nvGrpSpPr>
        <p:grpSpPr>
          <a:xfrm>
            <a:off x="414866" y="2864590"/>
            <a:ext cx="2520000" cy="396000"/>
            <a:chOff x="414866" y="2932319"/>
            <a:chExt cx="2520000" cy="39600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D14E56D-9DD9-0E61-7DB0-83873D5ECF10}"/>
                </a:ext>
              </a:extLst>
            </p:cNvPr>
            <p:cNvSpPr txBox="1"/>
            <p:nvPr/>
          </p:nvSpPr>
          <p:spPr>
            <a:xfrm>
              <a:off x="414866" y="2932319"/>
              <a:ext cx="2520000" cy="396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u="sng" dirty="0"/>
                <a:t>Daily task 2</a:t>
              </a:r>
              <a:endParaRPr lang="en-SG" u="sng" dirty="0"/>
            </a:p>
          </p:txBody>
        </p:sp>
        <p:sp>
          <p:nvSpPr>
            <p:cNvPr id="35" name="Multiplication Sign 34">
              <a:extLst>
                <a:ext uri="{FF2B5EF4-FFF2-40B4-BE49-F238E27FC236}">
                  <a16:creationId xmlns:a16="http://schemas.microsoft.com/office/drawing/2014/main" id="{217F860F-0618-790C-DA3C-78A5F7167846}"/>
                </a:ext>
              </a:extLst>
            </p:cNvPr>
            <p:cNvSpPr/>
            <p:nvPr/>
          </p:nvSpPr>
          <p:spPr>
            <a:xfrm>
              <a:off x="2537368" y="2950319"/>
              <a:ext cx="360000" cy="360000"/>
            </a:xfrm>
            <a:prstGeom prst="mathMultiply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5D3EC81-29BE-E5CD-0DC1-B1C1C86A7129}"/>
              </a:ext>
            </a:extLst>
          </p:cNvPr>
          <p:cNvGrpSpPr/>
          <p:nvPr/>
        </p:nvGrpSpPr>
        <p:grpSpPr>
          <a:xfrm>
            <a:off x="414866" y="3340669"/>
            <a:ext cx="2520000" cy="396000"/>
            <a:chOff x="414866" y="3449872"/>
            <a:chExt cx="2520000" cy="39600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B07CCE8-537B-88B6-A208-689992655418}"/>
                </a:ext>
              </a:extLst>
            </p:cNvPr>
            <p:cNvSpPr txBox="1"/>
            <p:nvPr/>
          </p:nvSpPr>
          <p:spPr>
            <a:xfrm>
              <a:off x="414866" y="3449872"/>
              <a:ext cx="2520000" cy="396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u="sng" dirty="0"/>
                <a:t>Daily task 3</a:t>
              </a:r>
              <a:endParaRPr lang="en-SG" u="sng" dirty="0"/>
            </a:p>
          </p:txBody>
        </p:sp>
        <p:sp>
          <p:nvSpPr>
            <p:cNvPr id="36" name="Multiplication Sign 35">
              <a:extLst>
                <a:ext uri="{FF2B5EF4-FFF2-40B4-BE49-F238E27FC236}">
                  <a16:creationId xmlns:a16="http://schemas.microsoft.com/office/drawing/2014/main" id="{B9EF9A0E-80C1-2FE3-6851-C647F49A5FC7}"/>
                </a:ext>
              </a:extLst>
            </p:cNvPr>
            <p:cNvSpPr/>
            <p:nvPr/>
          </p:nvSpPr>
          <p:spPr>
            <a:xfrm>
              <a:off x="2537368" y="3467872"/>
              <a:ext cx="360000" cy="360000"/>
            </a:xfrm>
            <a:prstGeom prst="mathMultiply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18A138C-C207-4ED6-5CBB-5DAB561DA308}"/>
              </a:ext>
            </a:extLst>
          </p:cNvPr>
          <p:cNvGrpSpPr/>
          <p:nvPr/>
        </p:nvGrpSpPr>
        <p:grpSpPr>
          <a:xfrm>
            <a:off x="414866" y="4742238"/>
            <a:ext cx="2520000" cy="376253"/>
            <a:chOff x="414866" y="2405434"/>
            <a:chExt cx="2520000" cy="376253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B7EB80A-602F-DFD5-D0A9-EC78C2D882EB}"/>
                </a:ext>
              </a:extLst>
            </p:cNvPr>
            <p:cNvSpPr txBox="1"/>
            <p:nvPr/>
          </p:nvSpPr>
          <p:spPr>
            <a:xfrm>
              <a:off x="414866" y="2405434"/>
              <a:ext cx="2520000" cy="36933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u="sng" dirty="0"/>
                <a:t>Weekly task 1</a:t>
              </a:r>
              <a:endParaRPr lang="en-SG" u="sng" dirty="0"/>
            </a:p>
          </p:txBody>
        </p:sp>
        <p:sp>
          <p:nvSpPr>
            <p:cNvPr id="42" name="Multiplication Sign 41">
              <a:extLst>
                <a:ext uri="{FF2B5EF4-FFF2-40B4-BE49-F238E27FC236}">
                  <a16:creationId xmlns:a16="http://schemas.microsoft.com/office/drawing/2014/main" id="{D9A99057-D29F-16C7-13EF-ED75EE705E7A}"/>
                </a:ext>
              </a:extLst>
            </p:cNvPr>
            <p:cNvSpPr/>
            <p:nvPr/>
          </p:nvSpPr>
          <p:spPr>
            <a:xfrm>
              <a:off x="2537368" y="2421687"/>
              <a:ext cx="360000" cy="360000"/>
            </a:xfrm>
            <a:prstGeom prst="mathMultiply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5580E87-6C17-5F54-B43C-323383E7A5C6}"/>
              </a:ext>
            </a:extLst>
          </p:cNvPr>
          <p:cNvGrpSpPr/>
          <p:nvPr/>
        </p:nvGrpSpPr>
        <p:grpSpPr>
          <a:xfrm>
            <a:off x="414866" y="5198570"/>
            <a:ext cx="2520000" cy="376253"/>
            <a:chOff x="414866" y="2405434"/>
            <a:chExt cx="2520000" cy="376253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2D4D2F2-61E7-7C8A-4CF2-75519BCF7073}"/>
                </a:ext>
              </a:extLst>
            </p:cNvPr>
            <p:cNvSpPr txBox="1"/>
            <p:nvPr/>
          </p:nvSpPr>
          <p:spPr>
            <a:xfrm>
              <a:off x="414866" y="2405434"/>
              <a:ext cx="2520000" cy="36933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u="sng" dirty="0"/>
                <a:t>Weekly task 2</a:t>
              </a:r>
              <a:endParaRPr lang="en-SG" u="sng" dirty="0"/>
            </a:p>
          </p:txBody>
        </p:sp>
        <p:sp>
          <p:nvSpPr>
            <p:cNvPr id="45" name="Multiplication Sign 44">
              <a:extLst>
                <a:ext uri="{FF2B5EF4-FFF2-40B4-BE49-F238E27FC236}">
                  <a16:creationId xmlns:a16="http://schemas.microsoft.com/office/drawing/2014/main" id="{BBEBB21A-F372-6B41-77A0-117ADE680608}"/>
                </a:ext>
              </a:extLst>
            </p:cNvPr>
            <p:cNvSpPr/>
            <p:nvPr/>
          </p:nvSpPr>
          <p:spPr>
            <a:xfrm>
              <a:off x="2537368" y="2421687"/>
              <a:ext cx="360000" cy="360000"/>
            </a:xfrm>
            <a:prstGeom prst="mathMultiply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987B516-A058-F405-C8C3-0254661267E2}"/>
              </a:ext>
            </a:extLst>
          </p:cNvPr>
          <p:cNvGrpSpPr/>
          <p:nvPr/>
        </p:nvGrpSpPr>
        <p:grpSpPr>
          <a:xfrm>
            <a:off x="414866" y="5654902"/>
            <a:ext cx="2520000" cy="376253"/>
            <a:chOff x="414866" y="2405434"/>
            <a:chExt cx="2520000" cy="376253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1758CA0-1753-E95D-2359-25FA569DCBAC}"/>
                </a:ext>
              </a:extLst>
            </p:cNvPr>
            <p:cNvSpPr txBox="1"/>
            <p:nvPr/>
          </p:nvSpPr>
          <p:spPr>
            <a:xfrm>
              <a:off x="414866" y="2405434"/>
              <a:ext cx="2520000" cy="36933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u="sng" dirty="0"/>
                <a:t>Weekly task 3</a:t>
              </a:r>
              <a:endParaRPr lang="en-SG" u="sng" dirty="0"/>
            </a:p>
          </p:txBody>
        </p:sp>
        <p:sp>
          <p:nvSpPr>
            <p:cNvPr id="48" name="Multiplication Sign 47">
              <a:extLst>
                <a:ext uri="{FF2B5EF4-FFF2-40B4-BE49-F238E27FC236}">
                  <a16:creationId xmlns:a16="http://schemas.microsoft.com/office/drawing/2014/main" id="{13F997A5-6614-0C07-D113-E07699A76815}"/>
                </a:ext>
              </a:extLst>
            </p:cNvPr>
            <p:cNvSpPr/>
            <p:nvPr/>
          </p:nvSpPr>
          <p:spPr>
            <a:xfrm>
              <a:off x="2537368" y="2421687"/>
              <a:ext cx="360000" cy="360000"/>
            </a:xfrm>
            <a:prstGeom prst="mathMultiply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3E7E3B0E-EF5A-9DC6-0CA2-159B360E6C34}"/>
              </a:ext>
            </a:extLst>
          </p:cNvPr>
          <p:cNvSpPr txBox="1"/>
          <p:nvPr/>
        </p:nvSpPr>
        <p:spPr>
          <a:xfrm>
            <a:off x="414866" y="6111232"/>
            <a:ext cx="2520000" cy="3693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Add more task </a:t>
            </a:r>
            <a:endParaRPr lang="en-SG" u="sng" dirty="0"/>
          </a:p>
        </p:txBody>
      </p:sp>
      <p:sp>
        <p:nvSpPr>
          <p:cNvPr id="3" name="Action Button: Go Back or Previous 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42CC6897-1B54-52D6-D649-2FB325D21910}"/>
              </a:ext>
            </a:extLst>
          </p:cNvPr>
          <p:cNvSpPr/>
          <p:nvPr/>
        </p:nvSpPr>
        <p:spPr>
          <a:xfrm>
            <a:off x="11461499" y="1175809"/>
            <a:ext cx="540000" cy="540000"/>
          </a:xfrm>
          <a:prstGeom prst="actionButtonBackPrevio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0859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DD736-6060-C205-C34A-7F42F7131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9844E-9F8F-0726-6A64-48229C8DB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99" y="86103"/>
            <a:ext cx="11811000" cy="878416"/>
          </a:xfrm>
        </p:spPr>
        <p:txBody>
          <a:bodyPr>
            <a:noAutofit/>
          </a:bodyPr>
          <a:lstStyle/>
          <a:p>
            <a:r>
              <a:rPr lang="en-US" sz="2000" dirty="0"/>
              <a:t>Scenario 2.b: chose to view task completion history</a:t>
            </a:r>
            <a:br>
              <a:rPr lang="en-US" sz="2000" dirty="0"/>
            </a:br>
            <a:r>
              <a:rPr lang="en-US" sz="2000" dirty="0"/>
              <a:t>response:    Ask which period of time to see</a:t>
            </a:r>
            <a:endParaRPr lang="en-SG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49BAB3-D4D3-FE5C-F615-7E9783633204}"/>
              </a:ext>
            </a:extLst>
          </p:cNvPr>
          <p:cNvSpPr/>
          <p:nvPr/>
        </p:nvSpPr>
        <p:spPr>
          <a:xfrm>
            <a:off x="0" y="1014942"/>
            <a:ext cx="12192000" cy="58430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9C95491-9C1B-4C8E-E83F-FB961B66EDB9}"/>
              </a:ext>
            </a:extLst>
          </p:cNvPr>
          <p:cNvGrpSpPr/>
          <p:nvPr/>
        </p:nvGrpSpPr>
        <p:grpSpPr>
          <a:xfrm>
            <a:off x="4166015" y="3188899"/>
            <a:ext cx="3859967" cy="1495143"/>
            <a:chOff x="4166023" y="2609788"/>
            <a:chExt cx="3859967" cy="14951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91E1578-3055-361E-3F37-6FE6E6D70B14}"/>
                </a:ext>
              </a:extLst>
            </p:cNvPr>
            <p:cNvSpPr txBox="1"/>
            <p:nvPr/>
          </p:nvSpPr>
          <p:spPr>
            <a:xfrm>
              <a:off x="4166023" y="2609788"/>
              <a:ext cx="38599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What period would you like to check?</a:t>
              </a:r>
              <a:endParaRPr lang="en-SG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5069877-63E1-5BA2-E376-FAC66DFCE688}"/>
                </a:ext>
              </a:extLst>
            </p:cNvPr>
            <p:cNvSpPr/>
            <p:nvPr/>
          </p:nvSpPr>
          <p:spPr>
            <a:xfrm>
              <a:off x="4295999" y="3182046"/>
              <a:ext cx="3600000" cy="396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Today</a:t>
              </a:r>
              <a:endParaRPr lang="en-SG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1A78D1-E462-DFAB-5448-7A68AA855242}"/>
                </a:ext>
              </a:extLst>
            </p:cNvPr>
            <p:cNvSpPr/>
            <p:nvPr/>
          </p:nvSpPr>
          <p:spPr>
            <a:xfrm>
              <a:off x="4295999" y="3708931"/>
              <a:ext cx="3600000" cy="396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Past week</a:t>
              </a:r>
              <a:endParaRPr lang="en-SG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Action Button: Go Back or Previous 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63B14894-E9BA-C2D6-17B0-06BD94DD01F2}"/>
              </a:ext>
            </a:extLst>
          </p:cNvPr>
          <p:cNvSpPr/>
          <p:nvPr/>
        </p:nvSpPr>
        <p:spPr>
          <a:xfrm>
            <a:off x="11461499" y="1175809"/>
            <a:ext cx="540000" cy="540000"/>
          </a:xfrm>
          <a:prstGeom prst="actionButtonBackPrevio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45486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8A560-EA54-FF00-119B-AC4675B44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E30CD-37A8-EBE6-1810-35E1D2625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99" y="86103"/>
            <a:ext cx="11811000" cy="878416"/>
          </a:xfrm>
        </p:spPr>
        <p:txBody>
          <a:bodyPr>
            <a:noAutofit/>
          </a:bodyPr>
          <a:lstStyle/>
          <a:p>
            <a:r>
              <a:rPr lang="en-US" sz="2000" dirty="0"/>
              <a:t>Scenario 2.b1: chose to view task completion history -&gt; today</a:t>
            </a:r>
            <a:br>
              <a:rPr lang="en-US" sz="2000" dirty="0"/>
            </a:br>
            <a:r>
              <a:rPr lang="en-US" sz="2000" dirty="0"/>
              <a:t>response:    shows checklist today</a:t>
            </a:r>
            <a:endParaRPr lang="en-SG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1CD6CF-D3E1-0970-A1F1-93774BC134FF}"/>
              </a:ext>
            </a:extLst>
          </p:cNvPr>
          <p:cNvSpPr/>
          <p:nvPr/>
        </p:nvSpPr>
        <p:spPr>
          <a:xfrm>
            <a:off x="0" y="1014942"/>
            <a:ext cx="12192000" cy="58430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D6BA8EA-4EC4-6CFF-3E70-703F00F69A04}"/>
              </a:ext>
            </a:extLst>
          </p:cNvPr>
          <p:cNvSpPr txBox="1"/>
          <p:nvPr/>
        </p:nvSpPr>
        <p:spPr>
          <a:xfrm>
            <a:off x="414866" y="1381946"/>
            <a:ext cx="12743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Ah gong</a:t>
            </a:r>
            <a:endParaRPr lang="en-SG" sz="2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7119651-6352-0AF9-003E-D919B640F288}"/>
              </a:ext>
            </a:extLst>
          </p:cNvPr>
          <p:cNvSpPr txBox="1"/>
          <p:nvPr/>
        </p:nvSpPr>
        <p:spPr>
          <a:xfrm>
            <a:off x="3582664" y="1401521"/>
            <a:ext cx="12743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Ah Ma</a:t>
            </a:r>
            <a:endParaRPr lang="en-SG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3F75DD-6580-A0BA-ADE5-C8EF452B5150}"/>
              </a:ext>
            </a:extLst>
          </p:cNvPr>
          <p:cNvSpPr txBox="1"/>
          <p:nvPr/>
        </p:nvSpPr>
        <p:spPr>
          <a:xfrm>
            <a:off x="414866" y="2040700"/>
            <a:ext cx="1840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Daily</a:t>
            </a:r>
            <a:endParaRPr lang="en-SG" dirty="0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FFF2DFE-2C3F-23AE-EB5D-30F92D38073A}"/>
              </a:ext>
            </a:extLst>
          </p:cNvPr>
          <p:cNvGrpSpPr/>
          <p:nvPr/>
        </p:nvGrpSpPr>
        <p:grpSpPr>
          <a:xfrm>
            <a:off x="414866" y="2472348"/>
            <a:ext cx="2087578" cy="404992"/>
            <a:chOff x="414866" y="2472348"/>
            <a:chExt cx="2087578" cy="40499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FE06D4A-02C3-5DA2-A2EE-864AD1D67C73}"/>
                </a:ext>
              </a:extLst>
            </p:cNvPr>
            <p:cNvSpPr txBox="1"/>
            <p:nvPr/>
          </p:nvSpPr>
          <p:spPr>
            <a:xfrm>
              <a:off x="1062444" y="2481340"/>
              <a:ext cx="1440000" cy="396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u="sng" dirty="0"/>
                <a:t>Daily task 1</a:t>
              </a:r>
              <a:endParaRPr lang="en-SG" u="sng" dirty="0"/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8FA95B5B-942F-CC6E-54DA-CD580B8A0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4866" y="2472348"/>
              <a:ext cx="377985" cy="377985"/>
            </a:xfrm>
            <a:prstGeom prst="rect">
              <a:avLst/>
            </a:prstGeom>
          </p:spPr>
        </p:pic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FAD0B0B-1101-B05D-CAE4-912F30E77A20}"/>
              </a:ext>
            </a:extLst>
          </p:cNvPr>
          <p:cNvGrpSpPr/>
          <p:nvPr/>
        </p:nvGrpSpPr>
        <p:grpSpPr>
          <a:xfrm>
            <a:off x="414866" y="2998904"/>
            <a:ext cx="2087578" cy="404992"/>
            <a:chOff x="414866" y="2998904"/>
            <a:chExt cx="2087578" cy="40499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1D9E7B1-E545-F53E-7164-8D8E8E17818E}"/>
                </a:ext>
              </a:extLst>
            </p:cNvPr>
            <p:cNvSpPr txBox="1"/>
            <p:nvPr/>
          </p:nvSpPr>
          <p:spPr>
            <a:xfrm>
              <a:off x="1062444" y="3007896"/>
              <a:ext cx="1440000" cy="396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u="sng" dirty="0"/>
                <a:t>Daily task 2</a:t>
              </a:r>
              <a:endParaRPr lang="en-SG" u="sng" dirty="0"/>
            </a:p>
          </p:txBody>
        </p:sp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B0133C77-4F0F-BE2D-8953-C7E3146546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4866" y="2998904"/>
              <a:ext cx="377985" cy="377985"/>
            </a:xfrm>
            <a:prstGeom prst="rect">
              <a:avLst/>
            </a:prstGeom>
          </p:spPr>
        </p:pic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6E6106C-C929-EA13-BC9B-19E7BEBAC0A9}"/>
              </a:ext>
            </a:extLst>
          </p:cNvPr>
          <p:cNvGrpSpPr/>
          <p:nvPr/>
        </p:nvGrpSpPr>
        <p:grpSpPr>
          <a:xfrm>
            <a:off x="414866" y="3534511"/>
            <a:ext cx="2087578" cy="404992"/>
            <a:chOff x="414866" y="3534511"/>
            <a:chExt cx="2087578" cy="40499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6BA7D4A-EA0B-C6E7-8EA1-171CA89D2DF3}"/>
                </a:ext>
              </a:extLst>
            </p:cNvPr>
            <p:cNvSpPr txBox="1"/>
            <p:nvPr/>
          </p:nvSpPr>
          <p:spPr>
            <a:xfrm>
              <a:off x="1062444" y="3543503"/>
              <a:ext cx="1440000" cy="396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u="sng" dirty="0"/>
                <a:t>Daily task 3</a:t>
              </a:r>
              <a:endParaRPr lang="en-SG" u="sng" dirty="0"/>
            </a:p>
          </p:txBody>
        </p: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38BE0951-26CE-4030-516D-95D2D301F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4866" y="3534511"/>
              <a:ext cx="377985" cy="377985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1BF96B2-97F9-C10F-168F-90B93A5604C0}"/>
              </a:ext>
            </a:extLst>
          </p:cNvPr>
          <p:cNvSpPr txBox="1"/>
          <p:nvPr/>
        </p:nvSpPr>
        <p:spPr>
          <a:xfrm>
            <a:off x="414866" y="4447969"/>
            <a:ext cx="1332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Weekly</a:t>
            </a:r>
            <a:endParaRPr lang="en-SG" dirty="0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D2CFCDEC-7628-D8DE-5AA8-DEA4F59FDDBF}"/>
              </a:ext>
            </a:extLst>
          </p:cNvPr>
          <p:cNvGrpSpPr/>
          <p:nvPr/>
        </p:nvGrpSpPr>
        <p:grpSpPr>
          <a:xfrm>
            <a:off x="414866" y="5358050"/>
            <a:ext cx="2447578" cy="400326"/>
            <a:chOff x="414866" y="5358050"/>
            <a:chExt cx="2447578" cy="400326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D66A15D-6892-88BB-36DD-C0213BAB058C}"/>
                </a:ext>
              </a:extLst>
            </p:cNvPr>
            <p:cNvSpPr txBox="1"/>
            <p:nvPr/>
          </p:nvSpPr>
          <p:spPr>
            <a:xfrm>
              <a:off x="1062444" y="5362376"/>
              <a:ext cx="1800000" cy="396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u="sng" dirty="0"/>
                <a:t>Weekly task 2</a:t>
              </a:r>
              <a:endParaRPr lang="en-SG" u="sng" dirty="0"/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B775A512-AFEA-59C7-8214-449E47AC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4866" y="5358050"/>
              <a:ext cx="377985" cy="377985"/>
            </a:xfrm>
            <a:prstGeom prst="rect">
              <a:avLst/>
            </a:prstGeom>
          </p:spPr>
        </p:pic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BFFCA46-E1BB-DE92-649F-A0C0D030F0E9}"/>
              </a:ext>
            </a:extLst>
          </p:cNvPr>
          <p:cNvGrpSpPr/>
          <p:nvPr/>
        </p:nvGrpSpPr>
        <p:grpSpPr>
          <a:xfrm>
            <a:off x="414866" y="5865202"/>
            <a:ext cx="2447578" cy="400326"/>
            <a:chOff x="414866" y="5865202"/>
            <a:chExt cx="2447578" cy="400326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B0D4A2E-372E-4A29-39EA-0D2B77599C63}"/>
                </a:ext>
              </a:extLst>
            </p:cNvPr>
            <p:cNvSpPr txBox="1"/>
            <p:nvPr/>
          </p:nvSpPr>
          <p:spPr>
            <a:xfrm>
              <a:off x="1062444" y="5869528"/>
              <a:ext cx="1800000" cy="396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u="sng" dirty="0"/>
                <a:t>Weekly task 3</a:t>
              </a:r>
              <a:endParaRPr lang="en-SG" u="sng" dirty="0"/>
            </a:p>
          </p:txBody>
        </p: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77BB24A0-4728-F6E3-7857-CF24929597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4866" y="5865202"/>
              <a:ext cx="377985" cy="377985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5C6BEFE-F22C-A365-BC13-2782317E1D14}"/>
              </a:ext>
            </a:extLst>
          </p:cNvPr>
          <p:cNvGrpSpPr/>
          <p:nvPr/>
        </p:nvGrpSpPr>
        <p:grpSpPr>
          <a:xfrm>
            <a:off x="414866" y="4875099"/>
            <a:ext cx="2447578" cy="404992"/>
            <a:chOff x="414866" y="4875099"/>
            <a:chExt cx="2447578" cy="40499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438F6D5-A268-1E96-837B-7DD0A81B561D}"/>
                </a:ext>
              </a:extLst>
            </p:cNvPr>
            <p:cNvSpPr txBox="1"/>
            <p:nvPr/>
          </p:nvSpPr>
          <p:spPr>
            <a:xfrm>
              <a:off x="1062444" y="4884091"/>
              <a:ext cx="1800000" cy="396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u="sng" dirty="0"/>
                <a:t>Weekly task 1</a:t>
              </a:r>
              <a:endParaRPr lang="en-SG" u="sng" dirty="0"/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3E5D75BB-A826-5DAA-E4BC-3FF6A6428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4866" y="4875099"/>
              <a:ext cx="377985" cy="377985"/>
            </a:xfrm>
            <a:prstGeom prst="rect">
              <a:avLst/>
            </a:prstGeom>
          </p:spPr>
        </p:pic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CE85B761-CFB0-FB8E-C49B-B3399ECCEBA1}"/>
              </a:ext>
            </a:extLst>
          </p:cNvPr>
          <p:cNvSpPr txBox="1"/>
          <p:nvPr/>
        </p:nvSpPr>
        <p:spPr>
          <a:xfrm>
            <a:off x="3582664" y="2049502"/>
            <a:ext cx="1840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Daily</a:t>
            </a:r>
            <a:endParaRPr lang="en-SG" dirty="0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B0A38B22-FA7D-54BD-C1D1-5BACBA270653}"/>
              </a:ext>
            </a:extLst>
          </p:cNvPr>
          <p:cNvGrpSpPr/>
          <p:nvPr/>
        </p:nvGrpSpPr>
        <p:grpSpPr>
          <a:xfrm>
            <a:off x="3582664" y="2481150"/>
            <a:ext cx="2087578" cy="404992"/>
            <a:chOff x="414866" y="2472348"/>
            <a:chExt cx="2087578" cy="404992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D693AF0B-3410-B541-4186-B8A36281155B}"/>
                </a:ext>
              </a:extLst>
            </p:cNvPr>
            <p:cNvSpPr txBox="1"/>
            <p:nvPr/>
          </p:nvSpPr>
          <p:spPr>
            <a:xfrm>
              <a:off x="1062444" y="2481340"/>
              <a:ext cx="1440000" cy="396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u="sng" dirty="0"/>
                <a:t>Daily task 1</a:t>
              </a:r>
              <a:endParaRPr lang="en-SG" u="sng" dirty="0"/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90D90100-45EB-021C-EEA4-E5064E0ACE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4866" y="2472348"/>
              <a:ext cx="377985" cy="377985"/>
            </a:xfrm>
            <a:prstGeom prst="rect">
              <a:avLst/>
            </a:prstGeom>
          </p:spPr>
        </p:pic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93738E1-7C63-3750-827B-1A8B1ABCAD7E}"/>
              </a:ext>
            </a:extLst>
          </p:cNvPr>
          <p:cNvGrpSpPr/>
          <p:nvPr/>
        </p:nvGrpSpPr>
        <p:grpSpPr>
          <a:xfrm>
            <a:off x="3582664" y="3007706"/>
            <a:ext cx="2087578" cy="404992"/>
            <a:chOff x="414866" y="2998904"/>
            <a:chExt cx="2087578" cy="404992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2D46AEE0-39BC-970A-DB35-BEC57112FE32}"/>
                </a:ext>
              </a:extLst>
            </p:cNvPr>
            <p:cNvSpPr txBox="1"/>
            <p:nvPr/>
          </p:nvSpPr>
          <p:spPr>
            <a:xfrm>
              <a:off x="1062444" y="3007896"/>
              <a:ext cx="1440000" cy="396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u="sng" dirty="0"/>
                <a:t>Daily task 2</a:t>
              </a:r>
              <a:endParaRPr lang="en-SG" u="sng" dirty="0"/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30150E88-9C62-B6AF-CC48-F2BE48225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4866" y="2998904"/>
              <a:ext cx="377985" cy="377985"/>
            </a:xfrm>
            <a:prstGeom prst="rect">
              <a:avLst/>
            </a:prstGeom>
          </p:spPr>
        </p:pic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2FF6F552-42F1-8260-A9BD-0E1E2FFF7FBE}"/>
              </a:ext>
            </a:extLst>
          </p:cNvPr>
          <p:cNvGrpSpPr/>
          <p:nvPr/>
        </p:nvGrpSpPr>
        <p:grpSpPr>
          <a:xfrm>
            <a:off x="3582664" y="3543313"/>
            <a:ext cx="2087578" cy="404992"/>
            <a:chOff x="414866" y="3534511"/>
            <a:chExt cx="2087578" cy="404992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3CBB72F-8FF6-E2B8-1222-59DBF1A6018F}"/>
                </a:ext>
              </a:extLst>
            </p:cNvPr>
            <p:cNvSpPr txBox="1"/>
            <p:nvPr/>
          </p:nvSpPr>
          <p:spPr>
            <a:xfrm>
              <a:off x="1062444" y="3543503"/>
              <a:ext cx="1440000" cy="396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u="sng" dirty="0"/>
                <a:t>Daily task 3</a:t>
              </a:r>
              <a:endParaRPr lang="en-SG" u="sng" dirty="0"/>
            </a:p>
          </p:txBody>
        </p:sp>
        <p:pic>
          <p:nvPicPr>
            <p:cNvPr id="101" name="Picture 100">
              <a:extLst>
                <a:ext uri="{FF2B5EF4-FFF2-40B4-BE49-F238E27FC236}">
                  <a16:creationId xmlns:a16="http://schemas.microsoft.com/office/drawing/2014/main" id="{269E84B9-F6FE-80BB-83A7-582929742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4866" y="3534511"/>
              <a:ext cx="377985" cy="377985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80E69B08-D68B-F941-F9B1-1CC55D28857E}"/>
              </a:ext>
            </a:extLst>
          </p:cNvPr>
          <p:cNvSpPr txBox="1"/>
          <p:nvPr/>
        </p:nvSpPr>
        <p:spPr>
          <a:xfrm>
            <a:off x="3634736" y="4447969"/>
            <a:ext cx="1332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Weekly</a:t>
            </a:r>
            <a:endParaRPr lang="en-SG" dirty="0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697E4E84-0B4C-0B81-1529-2DCC30B599B9}"/>
              </a:ext>
            </a:extLst>
          </p:cNvPr>
          <p:cNvGrpSpPr/>
          <p:nvPr/>
        </p:nvGrpSpPr>
        <p:grpSpPr>
          <a:xfrm>
            <a:off x="3582664" y="5839405"/>
            <a:ext cx="2437159" cy="373167"/>
            <a:chOff x="3582664" y="5839405"/>
            <a:chExt cx="2437159" cy="373167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158C58F-C0E9-6583-2F25-28DDD0EC99F7}"/>
                </a:ext>
              </a:extLst>
            </p:cNvPr>
            <p:cNvSpPr/>
            <p:nvPr/>
          </p:nvSpPr>
          <p:spPr>
            <a:xfrm>
              <a:off x="3582664" y="5852572"/>
              <a:ext cx="360000" cy="36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BB554D1-0170-3438-28C0-09C2BB8328A8}"/>
                </a:ext>
              </a:extLst>
            </p:cNvPr>
            <p:cNvSpPr txBox="1"/>
            <p:nvPr/>
          </p:nvSpPr>
          <p:spPr>
            <a:xfrm>
              <a:off x="4219823" y="5839405"/>
              <a:ext cx="180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u="sng" dirty="0"/>
                <a:t>Weekly task 3</a:t>
              </a:r>
              <a:endParaRPr lang="en-SG" u="sng" dirty="0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169C1A5-8888-87CF-2E61-A9AB1EB58D65}"/>
              </a:ext>
            </a:extLst>
          </p:cNvPr>
          <p:cNvGrpSpPr/>
          <p:nvPr/>
        </p:nvGrpSpPr>
        <p:grpSpPr>
          <a:xfrm>
            <a:off x="3582664" y="5356794"/>
            <a:ext cx="2447578" cy="400326"/>
            <a:chOff x="414866" y="5358050"/>
            <a:chExt cx="2447578" cy="400326"/>
          </a:xfrm>
        </p:grpSpPr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852F4377-5937-B251-5194-295B1D215586}"/>
                </a:ext>
              </a:extLst>
            </p:cNvPr>
            <p:cNvSpPr txBox="1"/>
            <p:nvPr/>
          </p:nvSpPr>
          <p:spPr>
            <a:xfrm>
              <a:off x="1062444" y="5362376"/>
              <a:ext cx="1800000" cy="396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u="sng" dirty="0"/>
                <a:t>Weekly task 2</a:t>
              </a:r>
              <a:endParaRPr lang="en-SG" u="sng" dirty="0"/>
            </a:p>
          </p:txBody>
        </p:sp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937711DA-C5F3-AD3E-071B-FE7822B5E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4866" y="5358050"/>
              <a:ext cx="377985" cy="377985"/>
            </a:xfrm>
            <a:prstGeom prst="rect">
              <a:avLst/>
            </a:prstGeom>
          </p:spPr>
        </p:pic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A7A8A90-E71B-DC36-2497-65C69673665B}"/>
              </a:ext>
            </a:extLst>
          </p:cNvPr>
          <p:cNvGrpSpPr/>
          <p:nvPr/>
        </p:nvGrpSpPr>
        <p:grpSpPr>
          <a:xfrm>
            <a:off x="3582664" y="4873843"/>
            <a:ext cx="2447578" cy="404992"/>
            <a:chOff x="414866" y="4875099"/>
            <a:chExt cx="2447578" cy="404992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61724358-3AB5-555A-1166-506900AA2E5A}"/>
                </a:ext>
              </a:extLst>
            </p:cNvPr>
            <p:cNvSpPr txBox="1"/>
            <p:nvPr/>
          </p:nvSpPr>
          <p:spPr>
            <a:xfrm>
              <a:off x="1062444" y="4884091"/>
              <a:ext cx="1800000" cy="396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u="sng" dirty="0"/>
                <a:t>Weekly task 1</a:t>
              </a:r>
              <a:endParaRPr lang="en-SG" u="sng" dirty="0"/>
            </a:p>
          </p:txBody>
        </p:sp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FCDF4F32-0F73-485C-AF3D-AD2A935D1F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4866" y="4875099"/>
              <a:ext cx="377985" cy="377985"/>
            </a:xfrm>
            <a:prstGeom prst="rect">
              <a:avLst/>
            </a:prstGeom>
          </p:spPr>
        </p:pic>
      </p:grpSp>
      <p:sp>
        <p:nvSpPr>
          <p:cNvPr id="3" name="Action Button: Go Back or Previous 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9BA062C-6909-CE70-5EE3-ABDDACF17131}"/>
              </a:ext>
            </a:extLst>
          </p:cNvPr>
          <p:cNvSpPr/>
          <p:nvPr/>
        </p:nvSpPr>
        <p:spPr>
          <a:xfrm>
            <a:off x="11461499" y="1175809"/>
            <a:ext cx="540000" cy="540000"/>
          </a:xfrm>
          <a:prstGeom prst="actionButtonBackPrevio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02213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EFB0C-355E-9526-9B7C-65B7DEB4B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162B7-DA4C-6E99-D825-3A1327E67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99" y="86103"/>
            <a:ext cx="11811000" cy="878416"/>
          </a:xfrm>
        </p:spPr>
        <p:txBody>
          <a:bodyPr>
            <a:noAutofit/>
          </a:bodyPr>
          <a:lstStyle/>
          <a:p>
            <a:r>
              <a:rPr lang="en-US" sz="2000" dirty="0"/>
              <a:t>Scenario 2.b2: chose to view task completion history -&gt; Past week</a:t>
            </a:r>
            <a:br>
              <a:rPr lang="en-US" sz="2000" dirty="0"/>
            </a:br>
            <a:r>
              <a:rPr lang="en-US" sz="2000" dirty="0"/>
              <a:t>response:    ask which person’s completion history to check</a:t>
            </a:r>
            <a:endParaRPr lang="en-SG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E8A859-BCD1-D911-434E-8A48B57FFB5A}"/>
              </a:ext>
            </a:extLst>
          </p:cNvPr>
          <p:cNvSpPr/>
          <p:nvPr/>
        </p:nvSpPr>
        <p:spPr>
          <a:xfrm>
            <a:off x="0" y="1014942"/>
            <a:ext cx="12192000" cy="58430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134699-3E07-3B4B-7562-FD0540F6834A}"/>
              </a:ext>
            </a:extLst>
          </p:cNvPr>
          <p:cNvSpPr/>
          <p:nvPr/>
        </p:nvSpPr>
        <p:spPr>
          <a:xfrm>
            <a:off x="0" y="1014942"/>
            <a:ext cx="12192000" cy="58430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94DA5C0-64DF-51F4-8CBD-E8E797025A30}"/>
              </a:ext>
            </a:extLst>
          </p:cNvPr>
          <p:cNvGrpSpPr/>
          <p:nvPr/>
        </p:nvGrpSpPr>
        <p:grpSpPr>
          <a:xfrm>
            <a:off x="4360719" y="2923172"/>
            <a:ext cx="3600000" cy="1502094"/>
            <a:chOff x="4360718" y="2602837"/>
            <a:chExt cx="3600000" cy="150209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C485268-7BB5-9A5A-5676-DEADEDFA3671}"/>
                </a:ext>
              </a:extLst>
            </p:cNvPr>
            <p:cNvSpPr txBox="1"/>
            <p:nvPr/>
          </p:nvSpPr>
          <p:spPr>
            <a:xfrm>
              <a:off x="4399636" y="2602837"/>
              <a:ext cx="3392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Please choose the user to check</a:t>
              </a:r>
              <a:endParaRPr lang="en-SG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DB6EBB6-50C1-8BFF-5A7B-5276D83DD3E1}"/>
                </a:ext>
              </a:extLst>
            </p:cNvPr>
            <p:cNvSpPr/>
            <p:nvPr/>
          </p:nvSpPr>
          <p:spPr>
            <a:xfrm>
              <a:off x="4360718" y="3182046"/>
              <a:ext cx="3600000" cy="396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Ah Gong</a:t>
              </a:r>
              <a:endParaRPr lang="en-SG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70B693-3FD8-54A3-04C4-4FB0D3874AE3}"/>
                </a:ext>
              </a:extLst>
            </p:cNvPr>
            <p:cNvSpPr/>
            <p:nvPr/>
          </p:nvSpPr>
          <p:spPr>
            <a:xfrm>
              <a:off x="4360718" y="3708931"/>
              <a:ext cx="3600000" cy="396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Ah Ma</a:t>
              </a:r>
              <a:endParaRPr lang="en-SG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Action Button: Go Back or Previous 1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C025A8A4-9D45-67E9-F7CF-EFE5577A6993}"/>
              </a:ext>
            </a:extLst>
          </p:cNvPr>
          <p:cNvSpPr/>
          <p:nvPr/>
        </p:nvSpPr>
        <p:spPr>
          <a:xfrm>
            <a:off x="11461499" y="1175809"/>
            <a:ext cx="540000" cy="540000"/>
          </a:xfrm>
          <a:prstGeom prst="actionButtonBackPrevio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24940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E641F-BF65-6B7A-0DDC-B84E10036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0F5D3-CE47-C0BB-BB9E-EB5BFE9AB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99" y="86103"/>
            <a:ext cx="11811000" cy="878416"/>
          </a:xfrm>
        </p:spPr>
        <p:txBody>
          <a:bodyPr>
            <a:noAutofit/>
          </a:bodyPr>
          <a:lstStyle/>
          <a:p>
            <a:r>
              <a:rPr lang="en-US" sz="2000" dirty="0"/>
              <a:t>Scenario 2.b2: chose to view task completion history -&gt; Past week -&gt; chose person to check</a:t>
            </a:r>
            <a:br>
              <a:rPr lang="en-US" sz="2000" dirty="0"/>
            </a:br>
            <a:r>
              <a:rPr lang="en-US" sz="2000" dirty="0"/>
              <a:t>response:</a:t>
            </a:r>
            <a:endParaRPr lang="en-SG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82654E-908F-23A7-1A34-F3DDDECA5936}"/>
              </a:ext>
            </a:extLst>
          </p:cNvPr>
          <p:cNvSpPr/>
          <p:nvPr/>
        </p:nvSpPr>
        <p:spPr>
          <a:xfrm>
            <a:off x="0" y="1014942"/>
            <a:ext cx="12192000" cy="58430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97BB9D-4A2B-5E9B-35EB-039222ECB759}"/>
              </a:ext>
            </a:extLst>
          </p:cNvPr>
          <p:cNvSpPr txBox="1"/>
          <p:nvPr/>
        </p:nvSpPr>
        <p:spPr>
          <a:xfrm>
            <a:off x="558726" y="2093564"/>
            <a:ext cx="2520000" cy="39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Daily task 1: 7/7</a:t>
            </a:r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584604-65D8-4865-50FB-65543A2F8F43}"/>
              </a:ext>
            </a:extLst>
          </p:cNvPr>
          <p:cNvSpPr txBox="1"/>
          <p:nvPr/>
        </p:nvSpPr>
        <p:spPr>
          <a:xfrm>
            <a:off x="558728" y="2902150"/>
            <a:ext cx="25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Daily task 2: 6/7</a:t>
            </a:r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3A785E-411D-B776-CB3B-2FA188BD4452}"/>
              </a:ext>
            </a:extLst>
          </p:cNvPr>
          <p:cNvSpPr txBox="1"/>
          <p:nvPr/>
        </p:nvSpPr>
        <p:spPr>
          <a:xfrm>
            <a:off x="558728" y="3710736"/>
            <a:ext cx="25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Daily task 3 : 5/7</a:t>
            </a:r>
            <a:endParaRPr lang="en-SG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593EB9-40D4-CF90-8394-246C47F8C4DA}"/>
              </a:ext>
            </a:extLst>
          </p:cNvPr>
          <p:cNvSpPr txBox="1"/>
          <p:nvPr/>
        </p:nvSpPr>
        <p:spPr>
          <a:xfrm>
            <a:off x="558728" y="1543365"/>
            <a:ext cx="12743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Ah gong</a:t>
            </a:r>
            <a:endParaRPr lang="en-SG" sz="24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C7FA023-CF48-3A1B-877A-5FB05BAAC56C}"/>
              </a:ext>
            </a:extLst>
          </p:cNvPr>
          <p:cNvGrpSpPr/>
          <p:nvPr/>
        </p:nvGrpSpPr>
        <p:grpSpPr>
          <a:xfrm>
            <a:off x="558728" y="5134494"/>
            <a:ext cx="2227863" cy="1438759"/>
            <a:chOff x="558728" y="5009649"/>
            <a:chExt cx="2227863" cy="1438759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5F84F2C-9F85-2EE3-60F7-B8AF4C7D301F}"/>
                </a:ext>
              </a:extLst>
            </p:cNvPr>
            <p:cNvGrpSpPr/>
            <p:nvPr/>
          </p:nvGrpSpPr>
          <p:grpSpPr>
            <a:xfrm>
              <a:off x="558728" y="5531028"/>
              <a:ext cx="2227863" cy="396000"/>
              <a:chOff x="558728" y="5545256"/>
              <a:chExt cx="2227863" cy="396000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57D2CDB-81E8-8733-674D-8AFD83D162A7}"/>
                  </a:ext>
                </a:extLst>
              </p:cNvPr>
              <p:cNvSpPr txBox="1"/>
              <p:nvPr/>
            </p:nvSpPr>
            <p:spPr>
              <a:xfrm>
                <a:off x="558728" y="5545256"/>
                <a:ext cx="1800000" cy="396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 dirty="0"/>
                  <a:t>Weekly task 2</a:t>
                </a:r>
                <a:endParaRPr lang="en-SG" u="sng" dirty="0"/>
              </a:p>
            </p:txBody>
          </p:sp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45DA3603-C732-29C9-AB0A-39F14A8B78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408606" y="5554264"/>
                <a:ext cx="377985" cy="377985"/>
              </a:xfrm>
              <a:prstGeom prst="rect">
                <a:avLst/>
              </a:prstGeom>
            </p:spPr>
          </p:pic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4AFB0BE-79F7-F0AD-ED67-60872674D9D3}"/>
                </a:ext>
              </a:extLst>
            </p:cNvPr>
            <p:cNvGrpSpPr/>
            <p:nvPr/>
          </p:nvGrpSpPr>
          <p:grpSpPr>
            <a:xfrm>
              <a:off x="595012" y="5009649"/>
              <a:ext cx="2182586" cy="396000"/>
              <a:chOff x="595012" y="5009649"/>
              <a:chExt cx="2182586" cy="396000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32FDF10-8042-5859-CBF0-9DF90A801E55}"/>
                  </a:ext>
                </a:extLst>
              </p:cNvPr>
              <p:cNvSpPr txBox="1"/>
              <p:nvPr/>
            </p:nvSpPr>
            <p:spPr>
              <a:xfrm>
                <a:off x="595012" y="5009649"/>
                <a:ext cx="1800000" cy="396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 dirty="0"/>
                  <a:t>Weekly task 1</a:t>
                </a:r>
                <a:endParaRPr lang="en-SG" u="sng" dirty="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F281976-BC9D-20D4-75E0-FE38B4A0CF9C}"/>
                  </a:ext>
                </a:extLst>
              </p:cNvPr>
              <p:cNvSpPr/>
              <p:nvPr/>
            </p:nvSpPr>
            <p:spPr>
              <a:xfrm>
                <a:off x="2417598" y="5027649"/>
                <a:ext cx="360000" cy="360000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D0AA20C-A9F8-A291-D22E-7D84E865489C}"/>
                </a:ext>
              </a:extLst>
            </p:cNvPr>
            <p:cNvGrpSpPr/>
            <p:nvPr/>
          </p:nvGrpSpPr>
          <p:grpSpPr>
            <a:xfrm>
              <a:off x="558728" y="6052408"/>
              <a:ext cx="2227863" cy="396000"/>
              <a:chOff x="558728" y="6052408"/>
              <a:chExt cx="2227863" cy="396000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A2B6324-409C-0192-D21E-3D2EE42E053B}"/>
                  </a:ext>
                </a:extLst>
              </p:cNvPr>
              <p:cNvSpPr txBox="1"/>
              <p:nvPr/>
            </p:nvSpPr>
            <p:spPr>
              <a:xfrm>
                <a:off x="558728" y="6052408"/>
                <a:ext cx="1800000" cy="396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 dirty="0"/>
                  <a:t>Weekly task 3</a:t>
                </a:r>
                <a:endParaRPr lang="en-SG" u="sng" dirty="0"/>
              </a:p>
            </p:txBody>
          </p: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0926B3C4-A724-22C1-2BBE-DEEFFC0274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408606" y="6061416"/>
                <a:ext cx="377985" cy="377985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4EDC0BF-3C40-E666-AAAB-E6D921B2B886}"/>
              </a:ext>
            </a:extLst>
          </p:cNvPr>
          <p:cNvSpPr txBox="1"/>
          <p:nvPr/>
        </p:nvSpPr>
        <p:spPr>
          <a:xfrm>
            <a:off x="190498" y="1174033"/>
            <a:ext cx="4474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 period: DD/MM/YYYY to DD/MM/YYYY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945485-029B-F8A7-5A89-9E42033FF078}"/>
              </a:ext>
            </a:extLst>
          </p:cNvPr>
          <p:cNvSpPr txBox="1"/>
          <p:nvPr/>
        </p:nvSpPr>
        <p:spPr>
          <a:xfrm>
            <a:off x="932763" y="4066616"/>
            <a:ext cx="3596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Missed on: Wednesday, Thursday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A673DA-D950-95E4-13B4-12CD8F46E5D5}"/>
              </a:ext>
            </a:extLst>
          </p:cNvPr>
          <p:cNvSpPr txBox="1"/>
          <p:nvPr/>
        </p:nvSpPr>
        <p:spPr>
          <a:xfrm>
            <a:off x="932763" y="2449446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Missed on:</a:t>
            </a:r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E17CED-210A-E0E8-D1C8-699D67E320AD}"/>
              </a:ext>
            </a:extLst>
          </p:cNvPr>
          <p:cNvSpPr txBox="1"/>
          <p:nvPr/>
        </p:nvSpPr>
        <p:spPr>
          <a:xfrm>
            <a:off x="932763" y="3258032"/>
            <a:ext cx="2131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Missed on: Tuesday</a:t>
            </a:r>
            <a:endParaRPr lang="en-SG" dirty="0"/>
          </a:p>
        </p:txBody>
      </p:sp>
      <p:sp>
        <p:nvSpPr>
          <p:cNvPr id="10" name="Action Button: Go Back or Previous 9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EAC7681-32AD-60B6-E531-C967FAE14CEA}"/>
              </a:ext>
            </a:extLst>
          </p:cNvPr>
          <p:cNvSpPr/>
          <p:nvPr/>
        </p:nvSpPr>
        <p:spPr>
          <a:xfrm>
            <a:off x="11461499" y="1175809"/>
            <a:ext cx="540000" cy="540000"/>
          </a:xfrm>
          <a:prstGeom prst="actionButtonBackPrevio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45846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191E7-CF17-1226-DA2A-F81112CF9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C6CD2-8F36-4F63-D792-C035298D7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99" y="86103"/>
            <a:ext cx="11811000" cy="878416"/>
          </a:xfrm>
        </p:spPr>
        <p:txBody>
          <a:bodyPr>
            <a:noAutofit/>
          </a:bodyPr>
          <a:lstStyle/>
          <a:p>
            <a:r>
              <a:rPr lang="en-US" sz="2000" dirty="0"/>
              <a:t>Scenario 2.c: chose to generate report</a:t>
            </a:r>
            <a:br>
              <a:rPr lang="en-US" sz="2000" dirty="0"/>
            </a:br>
            <a:r>
              <a:rPr lang="en-US" sz="2000" dirty="0"/>
              <a:t>response:    Ask whose report to generate</a:t>
            </a:r>
            <a:endParaRPr lang="en-SG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87C193-2194-1EB8-1BE0-39617034B393}"/>
              </a:ext>
            </a:extLst>
          </p:cNvPr>
          <p:cNvSpPr/>
          <p:nvPr/>
        </p:nvSpPr>
        <p:spPr>
          <a:xfrm>
            <a:off x="0" y="1014942"/>
            <a:ext cx="12192000" cy="58430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B92CB12-2E3B-63A2-9FEE-AF6DB6D52566}"/>
              </a:ext>
            </a:extLst>
          </p:cNvPr>
          <p:cNvGrpSpPr/>
          <p:nvPr/>
        </p:nvGrpSpPr>
        <p:grpSpPr>
          <a:xfrm>
            <a:off x="4360719" y="2930123"/>
            <a:ext cx="3600000" cy="1495143"/>
            <a:chOff x="4360718" y="2609788"/>
            <a:chExt cx="3600000" cy="14951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B2EFD51-5A91-946A-5F2F-77C2928D8CB9}"/>
                </a:ext>
              </a:extLst>
            </p:cNvPr>
            <p:cNvSpPr txBox="1"/>
            <p:nvPr/>
          </p:nvSpPr>
          <p:spPr>
            <a:xfrm>
              <a:off x="4446082" y="2609788"/>
              <a:ext cx="34292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Whose report are we generating?</a:t>
              </a:r>
              <a:endParaRPr lang="en-SG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F539AF2-DD98-919C-19AF-6848098AECB4}"/>
                </a:ext>
              </a:extLst>
            </p:cNvPr>
            <p:cNvSpPr/>
            <p:nvPr/>
          </p:nvSpPr>
          <p:spPr>
            <a:xfrm>
              <a:off x="4360718" y="3182046"/>
              <a:ext cx="3600000" cy="396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Ah Gong</a:t>
              </a:r>
              <a:endParaRPr lang="en-SG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68477F6-E3D4-8451-4C49-70733AC6402F}"/>
                </a:ext>
              </a:extLst>
            </p:cNvPr>
            <p:cNvSpPr/>
            <p:nvPr/>
          </p:nvSpPr>
          <p:spPr>
            <a:xfrm>
              <a:off x="4360718" y="3708931"/>
              <a:ext cx="3600000" cy="396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Ah Ma</a:t>
              </a:r>
              <a:endParaRPr lang="en-SG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07E6938-C8FF-ADD1-3B88-827CF16729D2}"/>
              </a:ext>
            </a:extLst>
          </p:cNvPr>
          <p:cNvSpPr txBox="1"/>
          <p:nvPr/>
        </p:nvSpPr>
        <p:spPr>
          <a:xfrm>
            <a:off x="7960719" y="4184711"/>
            <a:ext cx="35974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(Displays however many seniors registered in the local device)</a:t>
            </a:r>
            <a:endParaRPr lang="en-SG" sz="1000" dirty="0"/>
          </a:p>
        </p:txBody>
      </p:sp>
      <p:sp>
        <p:nvSpPr>
          <p:cNvPr id="4" name="Action Button: Go Back or Previous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DD17C14-FF67-1AB2-D72D-A7349287AA9E}"/>
              </a:ext>
            </a:extLst>
          </p:cNvPr>
          <p:cNvSpPr/>
          <p:nvPr/>
        </p:nvSpPr>
        <p:spPr>
          <a:xfrm>
            <a:off x="11461499" y="1175809"/>
            <a:ext cx="540000" cy="540000"/>
          </a:xfrm>
          <a:prstGeom prst="actionButtonBackPrevio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51274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C30F1-E80F-5617-F125-6F99A1D91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88056-3375-08DD-B802-A1B5E964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99" y="86103"/>
            <a:ext cx="11811000" cy="878416"/>
          </a:xfrm>
        </p:spPr>
        <p:txBody>
          <a:bodyPr>
            <a:noAutofit/>
          </a:bodyPr>
          <a:lstStyle/>
          <a:p>
            <a:r>
              <a:rPr lang="en-US" sz="2000" dirty="0"/>
              <a:t>Scenario 2.c: chose to generate report -&gt; choose person</a:t>
            </a:r>
            <a:br>
              <a:rPr lang="en-US" sz="2000" dirty="0"/>
            </a:br>
            <a:r>
              <a:rPr lang="en-US" sz="2000" dirty="0"/>
              <a:t>response:    generate report as csv file in ‘report’ folder</a:t>
            </a:r>
            <a:endParaRPr lang="en-SG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E02181-14C1-3122-3194-F09B4EC04022}"/>
              </a:ext>
            </a:extLst>
          </p:cNvPr>
          <p:cNvSpPr/>
          <p:nvPr/>
        </p:nvSpPr>
        <p:spPr>
          <a:xfrm>
            <a:off x="0" y="1014942"/>
            <a:ext cx="12192000" cy="58430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94A647F-C385-194B-97C5-D9F8A48524A1}"/>
              </a:ext>
            </a:extLst>
          </p:cNvPr>
          <p:cNvGrpSpPr/>
          <p:nvPr/>
        </p:nvGrpSpPr>
        <p:grpSpPr>
          <a:xfrm>
            <a:off x="4253860" y="3074936"/>
            <a:ext cx="3684278" cy="861535"/>
            <a:chOff x="4318586" y="2609788"/>
            <a:chExt cx="3684278" cy="86153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5E5BA52-BDA7-D3C8-898F-8DF6767EA3D3}"/>
                </a:ext>
              </a:extLst>
            </p:cNvPr>
            <p:cNvSpPr txBox="1"/>
            <p:nvPr/>
          </p:nvSpPr>
          <p:spPr>
            <a:xfrm>
              <a:off x="4318586" y="2609788"/>
              <a:ext cx="368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Please wait… Generating report for:</a:t>
              </a:r>
              <a:endParaRPr lang="en-SG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E3C79AF-01AF-0ACA-7137-C1FCCD2D858C}"/>
                </a:ext>
              </a:extLst>
            </p:cNvPr>
            <p:cNvSpPr/>
            <p:nvPr/>
          </p:nvSpPr>
          <p:spPr>
            <a:xfrm>
              <a:off x="4360725" y="3075323"/>
              <a:ext cx="3600000" cy="396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Ah Ma</a:t>
              </a:r>
              <a:endParaRPr lang="en-SG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Action Button: Go Back or Previous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ED53D86-6EC3-6C37-FCF8-17E0536F0BCD}"/>
              </a:ext>
            </a:extLst>
          </p:cNvPr>
          <p:cNvSpPr/>
          <p:nvPr/>
        </p:nvSpPr>
        <p:spPr>
          <a:xfrm>
            <a:off x="11461499" y="1175809"/>
            <a:ext cx="540000" cy="540000"/>
          </a:xfrm>
          <a:prstGeom prst="actionButtonBackPrevio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83676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DE96F-42BB-6039-C884-8F40C2B1A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CA747-3B09-0B3A-A514-BC43C9A40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99" y="86103"/>
            <a:ext cx="11811000" cy="878416"/>
          </a:xfrm>
        </p:spPr>
        <p:txBody>
          <a:bodyPr>
            <a:noAutofit/>
          </a:bodyPr>
          <a:lstStyle/>
          <a:p>
            <a:r>
              <a:rPr lang="en-US" sz="2000" dirty="0"/>
              <a:t>Scenario 2.c: chose to generate report -&gt; choose person</a:t>
            </a:r>
            <a:br>
              <a:rPr lang="en-US" sz="2000" dirty="0"/>
            </a:br>
            <a:r>
              <a:rPr lang="en-US" sz="2000" dirty="0"/>
              <a:t>response:    generate report as csv file in ‘report’ folder</a:t>
            </a:r>
            <a:endParaRPr lang="en-SG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7A8A27-5DA6-89E5-8E27-D14AC7973731}"/>
              </a:ext>
            </a:extLst>
          </p:cNvPr>
          <p:cNvSpPr/>
          <p:nvPr/>
        </p:nvSpPr>
        <p:spPr>
          <a:xfrm>
            <a:off x="0" y="1014942"/>
            <a:ext cx="12192000" cy="58430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7BF4597-2592-AC15-1769-FDD2CD6A1C86}"/>
              </a:ext>
            </a:extLst>
          </p:cNvPr>
          <p:cNvGrpSpPr/>
          <p:nvPr/>
        </p:nvGrpSpPr>
        <p:grpSpPr>
          <a:xfrm>
            <a:off x="4295999" y="3074936"/>
            <a:ext cx="3600000" cy="861535"/>
            <a:chOff x="4360725" y="2609788"/>
            <a:chExt cx="3600000" cy="86153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C00C39E-C90B-BF37-0AD4-16DEE7F56E5C}"/>
                </a:ext>
              </a:extLst>
            </p:cNvPr>
            <p:cNvSpPr txBox="1"/>
            <p:nvPr/>
          </p:nvSpPr>
          <p:spPr>
            <a:xfrm>
              <a:off x="4542471" y="2609788"/>
              <a:ext cx="3236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Report has been generated for:</a:t>
              </a:r>
              <a:endParaRPr lang="en-SG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C1746EB-0F0A-F5FE-E6E2-7B0508721B00}"/>
                </a:ext>
              </a:extLst>
            </p:cNvPr>
            <p:cNvSpPr/>
            <p:nvPr/>
          </p:nvSpPr>
          <p:spPr>
            <a:xfrm>
              <a:off x="4360725" y="3075323"/>
              <a:ext cx="3600000" cy="396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Ah Ma</a:t>
              </a:r>
              <a:endParaRPr lang="en-SG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Action Button: Go Back or Previous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25BD9DA-9674-AB42-9719-19C67AEB30B0}"/>
              </a:ext>
            </a:extLst>
          </p:cNvPr>
          <p:cNvSpPr/>
          <p:nvPr/>
        </p:nvSpPr>
        <p:spPr>
          <a:xfrm>
            <a:off x="11461499" y="1175809"/>
            <a:ext cx="540000" cy="540000"/>
          </a:xfrm>
          <a:prstGeom prst="actionButtonBackPrevio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C000DD-BEC0-6A31-A9A0-F1D6E2293BAD}"/>
              </a:ext>
            </a:extLst>
          </p:cNvPr>
          <p:cNvSpPr txBox="1"/>
          <p:nvPr/>
        </p:nvSpPr>
        <p:spPr>
          <a:xfrm>
            <a:off x="3485592" y="4032674"/>
            <a:ext cx="5220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Please check the ‘report’ folder in the app directory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2369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6769A-FCEF-574B-C928-3EC1EF70C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1B3A6-D6F2-FB8E-A71B-870FAEE66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99" y="86103"/>
            <a:ext cx="11811000" cy="878416"/>
          </a:xfrm>
        </p:spPr>
        <p:txBody>
          <a:bodyPr>
            <a:noAutofit/>
          </a:bodyPr>
          <a:lstStyle/>
          <a:p>
            <a:r>
              <a:rPr lang="en-US" sz="2000" dirty="0"/>
              <a:t>Scenario 2d: choose to change password</a:t>
            </a:r>
            <a:br>
              <a:rPr lang="en-US" sz="2000" dirty="0"/>
            </a:br>
            <a:r>
              <a:rPr lang="en-US" sz="2000" dirty="0"/>
              <a:t>response:      window for changing password</a:t>
            </a:r>
            <a:endParaRPr lang="en-SG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C0CF2F-36E2-66BE-9F90-DD36A44EF51F}"/>
              </a:ext>
            </a:extLst>
          </p:cNvPr>
          <p:cNvSpPr/>
          <p:nvPr/>
        </p:nvSpPr>
        <p:spPr>
          <a:xfrm>
            <a:off x="0" y="1014942"/>
            <a:ext cx="12192000" cy="58430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Action Button: Go Back or Previous 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CBDE40E9-7545-FEF0-D659-B4AA7C5D840B}"/>
              </a:ext>
            </a:extLst>
          </p:cNvPr>
          <p:cNvSpPr/>
          <p:nvPr/>
        </p:nvSpPr>
        <p:spPr>
          <a:xfrm>
            <a:off x="11461499" y="1175809"/>
            <a:ext cx="540000" cy="540000"/>
          </a:xfrm>
          <a:prstGeom prst="actionButtonBackPrevio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C42511E-B751-E0F9-1E01-71C7B5A2B6A9}"/>
              </a:ext>
            </a:extLst>
          </p:cNvPr>
          <p:cNvGrpSpPr/>
          <p:nvPr/>
        </p:nvGrpSpPr>
        <p:grpSpPr>
          <a:xfrm>
            <a:off x="2446518" y="2465869"/>
            <a:ext cx="7298961" cy="1926261"/>
            <a:chOff x="1069782" y="2152772"/>
            <a:chExt cx="7298961" cy="19262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BC32706-D463-7728-409F-67363C6CCD0E}"/>
                </a:ext>
              </a:extLst>
            </p:cNvPr>
            <p:cNvSpPr txBox="1"/>
            <p:nvPr/>
          </p:nvSpPr>
          <p:spPr>
            <a:xfrm>
              <a:off x="3647590" y="2152772"/>
              <a:ext cx="21433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Changing password</a:t>
              </a:r>
              <a:endParaRPr lang="en-SG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EC2B57-425C-39E2-3C6A-B5BC50B5BD59}"/>
                </a:ext>
              </a:extLst>
            </p:cNvPr>
            <p:cNvGrpSpPr/>
            <p:nvPr/>
          </p:nvGrpSpPr>
          <p:grpSpPr>
            <a:xfrm>
              <a:off x="1069782" y="2838481"/>
              <a:ext cx="7298961" cy="1240552"/>
              <a:chOff x="1069782" y="2838481"/>
              <a:chExt cx="7298961" cy="1240552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2DF3015F-F567-809A-C110-2DB8E9B5C7B2}"/>
                  </a:ext>
                </a:extLst>
              </p:cNvPr>
              <p:cNvGrpSpPr/>
              <p:nvPr/>
            </p:nvGrpSpPr>
            <p:grpSpPr>
              <a:xfrm>
                <a:off x="1321004" y="2838481"/>
                <a:ext cx="7047739" cy="396000"/>
                <a:chOff x="848260" y="2558537"/>
                <a:chExt cx="7047739" cy="396000"/>
              </a:xfrm>
            </p:grpSpPr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67D7337-2C71-F186-5FDC-81190124EC85}"/>
                    </a:ext>
                  </a:extLst>
                </p:cNvPr>
                <p:cNvSpPr txBox="1"/>
                <p:nvPr/>
              </p:nvSpPr>
              <p:spPr>
                <a:xfrm>
                  <a:off x="848260" y="2571871"/>
                  <a:ext cx="34477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Please enter your new password:</a:t>
                  </a:r>
                  <a:endParaRPr lang="en-SG" dirty="0"/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E72FE596-B0E9-0DF7-BB90-6D5C67148C40}"/>
                    </a:ext>
                  </a:extLst>
                </p:cNvPr>
                <p:cNvSpPr/>
                <p:nvPr/>
              </p:nvSpPr>
              <p:spPr>
                <a:xfrm>
                  <a:off x="4295999" y="2558537"/>
                  <a:ext cx="3600000" cy="396000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________________________________</a:t>
                  </a:r>
                  <a:endParaRPr lang="en-SG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5D9B39C2-335F-A1AE-5C17-E51B293CC7F2}"/>
                  </a:ext>
                </a:extLst>
              </p:cNvPr>
              <p:cNvGrpSpPr/>
              <p:nvPr/>
            </p:nvGrpSpPr>
            <p:grpSpPr>
              <a:xfrm>
                <a:off x="1069782" y="3683033"/>
                <a:ext cx="7298961" cy="396000"/>
                <a:chOff x="597038" y="3111083"/>
                <a:chExt cx="7298961" cy="396000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40AC7846-D977-8F4B-4BAF-E85AFBEBAD9C}"/>
                    </a:ext>
                  </a:extLst>
                </p:cNvPr>
                <p:cNvSpPr/>
                <p:nvPr/>
              </p:nvSpPr>
              <p:spPr>
                <a:xfrm>
                  <a:off x="4295999" y="3111083"/>
                  <a:ext cx="3600000" cy="396000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________________________________</a:t>
                  </a:r>
                  <a:endParaRPr lang="en-SG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6DD6ABA-BDF3-DC14-2CF4-056424127841}"/>
                    </a:ext>
                  </a:extLst>
                </p:cNvPr>
                <p:cNvSpPr txBox="1"/>
                <p:nvPr/>
              </p:nvSpPr>
              <p:spPr>
                <a:xfrm>
                  <a:off x="597038" y="3124417"/>
                  <a:ext cx="369896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Please confirm your new password:</a:t>
                  </a:r>
                  <a:endParaRPr lang="en-SG" dirty="0"/>
                </a:p>
              </p:txBody>
            </p:sp>
          </p:grpSp>
        </p:grpSp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ACEBC0C-A5D2-399C-BDBA-DD29948053F9}"/>
              </a:ext>
            </a:extLst>
          </p:cNvPr>
          <p:cNvSpPr/>
          <p:nvPr/>
        </p:nvSpPr>
        <p:spPr>
          <a:xfrm>
            <a:off x="7836247" y="5033484"/>
            <a:ext cx="1909232" cy="39624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Complete</a:t>
            </a:r>
            <a:endParaRPr lang="en-S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6608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3899A-CEE9-39B0-E02C-5D7B4708D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824A6-7C3B-80E6-381D-4FE4E6F4D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99" y="86103"/>
            <a:ext cx="11811000" cy="878416"/>
          </a:xfrm>
        </p:spPr>
        <p:txBody>
          <a:bodyPr>
            <a:noAutofit/>
          </a:bodyPr>
          <a:lstStyle/>
          <a:p>
            <a:r>
              <a:rPr lang="en-US" sz="2000" dirty="0"/>
              <a:t>Scenario 2e: choose to Add new user</a:t>
            </a:r>
            <a:br>
              <a:rPr lang="en-US" sz="2000" dirty="0"/>
            </a:br>
            <a:r>
              <a:rPr lang="en-US" sz="2000" dirty="0"/>
              <a:t>response:      window for adding new user</a:t>
            </a:r>
            <a:endParaRPr lang="en-SG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44379E-C1E2-62C2-306B-89146A8D60BD}"/>
              </a:ext>
            </a:extLst>
          </p:cNvPr>
          <p:cNvSpPr/>
          <p:nvPr/>
        </p:nvSpPr>
        <p:spPr>
          <a:xfrm>
            <a:off x="0" y="1014942"/>
            <a:ext cx="12192000" cy="58430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Action Button: Go Back or Previous 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F3CC2779-3C30-4BDA-4A11-4F2EE357DBFE}"/>
              </a:ext>
            </a:extLst>
          </p:cNvPr>
          <p:cNvSpPr/>
          <p:nvPr/>
        </p:nvSpPr>
        <p:spPr>
          <a:xfrm>
            <a:off x="11461499" y="1175809"/>
            <a:ext cx="540000" cy="540000"/>
          </a:xfrm>
          <a:prstGeom prst="actionButtonBackPrevio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BBA299-ECC2-A741-D9AB-7D1E2A1D9BBE}"/>
              </a:ext>
            </a:extLst>
          </p:cNvPr>
          <p:cNvSpPr txBox="1"/>
          <p:nvPr/>
        </p:nvSpPr>
        <p:spPr>
          <a:xfrm>
            <a:off x="4957868" y="1346477"/>
            <a:ext cx="22762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Add new user</a:t>
            </a:r>
            <a:endParaRPr lang="en-SG" sz="28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1BE3A52-86AD-63D9-74A2-E300D1B0CDB9}"/>
              </a:ext>
            </a:extLst>
          </p:cNvPr>
          <p:cNvSpPr/>
          <p:nvPr/>
        </p:nvSpPr>
        <p:spPr>
          <a:xfrm>
            <a:off x="10092267" y="6335914"/>
            <a:ext cx="1909232" cy="39624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Complete</a:t>
            </a:r>
            <a:endParaRPr lang="en-SG" dirty="0">
              <a:solidFill>
                <a:schemeClr val="tx1"/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C392C5A-F50D-62A0-94CD-345BB7D03B45}"/>
              </a:ext>
            </a:extLst>
          </p:cNvPr>
          <p:cNvGrpSpPr/>
          <p:nvPr/>
        </p:nvGrpSpPr>
        <p:grpSpPr>
          <a:xfrm>
            <a:off x="377368" y="2884339"/>
            <a:ext cx="2520000" cy="1328409"/>
            <a:chOff x="414866" y="1939100"/>
            <a:chExt cx="2520000" cy="132840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F03D891-24F1-74C7-EAAF-1AF3A7F65C72}"/>
                </a:ext>
              </a:extLst>
            </p:cNvPr>
            <p:cNvSpPr txBox="1"/>
            <p:nvPr/>
          </p:nvSpPr>
          <p:spPr>
            <a:xfrm>
              <a:off x="414866" y="1939100"/>
              <a:ext cx="18406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Daily</a:t>
              </a:r>
              <a:endParaRPr lang="en-SG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BDF87A5-F350-D7AF-CD6A-8EB122C7AC5D}"/>
                </a:ext>
              </a:extLst>
            </p:cNvPr>
            <p:cNvSpPr txBox="1"/>
            <p:nvPr/>
          </p:nvSpPr>
          <p:spPr>
            <a:xfrm>
              <a:off x="414866" y="2871509"/>
              <a:ext cx="2520000" cy="396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u="sng" dirty="0"/>
                <a:t>Add more tasks</a:t>
              </a:r>
              <a:endParaRPr lang="en-SG" u="sng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C21094B-836C-69C2-369F-FFAC2EE65FE6}"/>
                </a:ext>
              </a:extLst>
            </p:cNvPr>
            <p:cNvGrpSpPr/>
            <p:nvPr/>
          </p:nvGrpSpPr>
          <p:grpSpPr>
            <a:xfrm>
              <a:off x="414866" y="2388511"/>
              <a:ext cx="2520000" cy="396000"/>
              <a:chOff x="414866" y="2405434"/>
              <a:chExt cx="2520000" cy="396000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2BA0B0-A31D-1A29-1AE3-D3A0614205A6}"/>
                  </a:ext>
                </a:extLst>
              </p:cNvPr>
              <p:cNvSpPr txBox="1"/>
              <p:nvPr/>
            </p:nvSpPr>
            <p:spPr>
              <a:xfrm>
                <a:off x="414866" y="2405434"/>
                <a:ext cx="2520000" cy="396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u="sng" dirty="0"/>
                  <a:t>Daily task 1</a:t>
                </a:r>
                <a:endParaRPr lang="en-SG" u="sng" dirty="0"/>
              </a:p>
            </p:txBody>
          </p:sp>
          <p:sp>
            <p:nvSpPr>
              <p:cNvPr id="22" name="Multiplication Sign 21">
                <a:extLst>
                  <a:ext uri="{FF2B5EF4-FFF2-40B4-BE49-F238E27FC236}">
                    <a16:creationId xmlns:a16="http://schemas.microsoft.com/office/drawing/2014/main" id="{4460CEA1-F220-9F05-FC97-15FF5FDF54B6}"/>
                  </a:ext>
                </a:extLst>
              </p:cNvPr>
              <p:cNvSpPr/>
              <p:nvPr/>
            </p:nvSpPr>
            <p:spPr>
              <a:xfrm>
                <a:off x="2537368" y="2421687"/>
                <a:ext cx="360000" cy="360000"/>
              </a:xfrm>
              <a:prstGeom prst="mathMultiply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B11D2E3-4073-EC6D-FEE5-6947472A7BC1}"/>
              </a:ext>
            </a:extLst>
          </p:cNvPr>
          <p:cNvGrpSpPr/>
          <p:nvPr/>
        </p:nvGrpSpPr>
        <p:grpSpPr>
          <a:xfrm>
            <a:off x="414866" y="4292827"/>
            <a:ext cx="2520000" cy="1268154"/>
            <a:chOff x="414866" y="4292827"/>
            <a:chExt cx="2520000" cy="126815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D7F2EEA-5F5F-9943-546C-E4784B1CE889}"/>
                </a:ext>
              </a:extLst>
            </p:cNvPr>
            <p:cNvSpPr txBox="1"/>
            <p:nvPr/>
          </p:nvSpPr>
          <p:spPr>
            <a:xfrm>
              <a:off x="414866" y="4292827"/>
              <a:ext cx="13326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Weekly</a:t>
              </a:r>
              <a:endParaRPr lang="en-SG" dirty="0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81C0165-7A8C-10C8-BA41-48FFEB1FDC67}"/>
                </a:ext>
              </a:extLst>
            </p:cNvPr>
            <p:cNvGrpSpPr/>
            <p:nvPr/>
          </p:nvGrpSpPr>
          <p:grpSpPr>
            <a:xfrm>
              <a:off x="414866" y="4742238"/>
              <a:ext cx="2520000" cy="376253"/>
              <a:chOff x="414866" y="2405434"/>
              <a:chExt cx="2520000" cy="376253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6CFF843-B98B-69BE-A806-640CFBD2C8BF}"/>
                  </a:ext>
                </a:extLst>
              </p:cNvPr>
              <p:cNvSpPr txBox="1"/>
              <p:nvPr/>
            </p:nvSpPr>
            <p:spPr>
              <a:xfrm>
                <a:off x="414866" y="2405434"/>
                <a:ext cx="2520000" cy="36933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u="sng" dirty="0"/>
                  <a:t>Weekly task 1</a:t>
                </a:r>
                <a:endParaRPr lang="en-SG" u="sng" dirty="0"/>
              </a:p>
            </p:txBody>
          </p:sp>
          <p:sp>
            <p:nvSpPr>
              <p:cNvPr id="32" name="Multiplication Sign 31">
                <a:extLst>
                  <a:ext uri="{FF2B5EF4-FFF2-40B4-BE49-F238E27FC236}">
                    <a16:creationId xmlns:a16="http://schemas.microsoft.com/office/drawing/2014/main" id="{51C485B9-78FD-D079-4904-17DDC3BEEA1A}"/>
                  </a:ext>
                </a:extLst>
              </p:cNvPr>
              <p:cNvSpPr/>
              <p:nvPr/>
            </p:nvSpPr>
            <p:spPr>
              <a:xfrm>
                <a:off x="2537368" y="2421687"/>
                <a:ext cx="360000" cy="360000"/>
              </a:xfrm>
              <a:prstGeom prst="mathMultiply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DB2432D-3144-B180-7930-5602C1ED5FAE}"/>
                </a:ext>
              </a:extLst>
            </p:cNvPr>
            <p:cNvSpPr txBox="1"/>
            <p:nvPr/>
          </p:nvSpPr>
          <p:spPr>
            <a:xfrm>
              <a:off x="414866" y="5191649"/>
              <a:ext cx="2520000" cy="36933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u="sng" dirty="0"/>
                <a:t>Add more task </a:t>
              </a:r>
              <a:endParaRPr lang="en-SG" u="sng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82A43FF-F7CC-D49B-55B6-9064EA7D556A}"/>
              </a:ext>
            </a:extLst>
          </p:cNvPr>
          <p:cNvGrpSpPr/>
          <p:nvPr/>
        </p:nvGrpSpPr>
        <p:grpSpPr>
          <a:xfrm>
            <a:off x="414866" y="2233506"/>
            <a:ext cx="7681758" cy="396000"/>
            <a:chOff x="458991" y="1738307"/>
            <a:chExt cx="7681758" cy="396000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89FC862-7179-D254-0481-67899C13D708}"/>
                </a:ext>
              </a:extLst>
            </p:cNvPr>
            <p:cNvSpPr txBox="1"/>
            <p:nvPr/>
          </p:nvSpPr>
          <p:spPr>
            <a:xfrm>
              <a:off x="458991" y="1751641"/>
              <a:ext cx="40817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Please enter the name of the new user :</a:t>
              </a:r>
              <a:endParaRPr lang="en-SG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4907E57-6E69-25F3-1152-FDF54432ECB4}"/>
                </a:ext>
              </a:extLst>
            </p:cNvPr>
            <p:cNvSpPr/>
            <p:nvPr/>
          </p:nvSpPr>
          <p:spPr>
            <a:xfrm>
              <a:off x="4540749" y="1738307"/>
              <a:ext cx="3600000" cy="396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________________________________</a:t>
              </a:r>
              <a:endParaRPr lang="en-SG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645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713</Words>
  <Application>Microsoft Office PowerPoint</Application>
  <PresentationFormat>Widescreen</PresentationFormat>
  <Paragraphs>123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Scenario: After opening the app, a log in page appears and there is a list for selecting user    choices for users are: 1. existing elderly accounts, 2. caretaker (admin)</vt:lpstr>
      <vt:lpstr>Scenario 1: chosen an existing elderly account:  response:    log in straight away</vt:lpstr>
      <vt:lpstr>Scenario 1: chosen an existing elderly account:  response:    log in straight away (click page 2 after completing the top part checklists)</vt:lpstr>
      <vt:lpstr>Scenario 2: chosen caregiver account:  response:    prompt to provide password for log in</vt:lpstr>
      <vt:lpstr>Scenario 2: chosen caregiver account -&gt; password success -&gt; log in response:    Ask what the user wants to do </vt:lpstr>
      <vt:lpstr>Scenario 2.a: chose to edit routine for senior response:    Ask whose routine to modify</vt:lpstr>
      <vt:lpstr>Scenario 2.a: chose to edit routine for senior -&gt; chose senior (Ah gong for example) response:    opens the edit page</vt:lpstr>
      <vt:lpstr>Scenario 2.b: chose to view task completion history response:    Ask which period of time to see</vt:lpstr>
      <vt:lpstr>Scenario 2.b1: chose to view task completion history -&gt; today response:    shows checklist today</vt:lpstr>
      <vt:lpstr>Scenario 2.b2: chose to view task completion history -&gt; Past week response:    ask which person’s completion history to check</vt:lpstr>
      <vt:lpstr>Scenario 2.b2: chose to view task completion history -&gt; Past week -&gt; chose person to check response:</vt:lpstr>
      <vt:lpstr>Scenario 2.c: chose to generate report response:    Ask whose report to generate</vt:lpstr>
      <vt:lpstr>Scenario 2.c: chose to generate report -&gt; choose person response:    generate report as csv file in ‘report’ folder</vt:lpstr>
      <vt:lpstr>Scenario 2.c: chose to generate report -&gt; choose person response:    generate report as csv file in ‘report’ folder</vt:lpstr>
      <vt:lpstr>Scenario 2d: choose to change password response:      window for changing password</vt:lpstr>
      <vt:lpstr>Scenario 2e: choose to Add new user response:      window for adding new user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Tseng Er Chen</dc:creator>
  <cp:lastModifiedBy>Tseng Er Chen</cp:lastModifiedBy>
  <cp:revision>4</cp:revision>
  <cp:lastPrinted>2026-03-28T11:11:54Z</cp:lastPrinted>
  <dcterms:created xsi:type="dcterms:W3CDTF">2026-03-27T09:33:45Z</dcterms:created>
  <dcterms:modified xsi:type="dcterms:W3CDTF">2026-03-28T11:27:49Z</dcterms:modified>
</cp:coreProperties>
</file>